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6" r:id="rId7"/>
    <p:sldId id="261" r:id="rId8"/>
    <p:sldId id="267" r:id="rId9"/>
    <p:sldId id="268" r:id="rId10"/>
    <p:sldId id="262" r:id="rId11"/>
    <p:sldId id="269" r:id="rId12"/>
    <p:sldId id="263" r:id="rId13"/>
    <p:sldId id="270" r:id="rId14"/>
    <p:sldId id="272" r:id="rId15"/>
    <p:sldId id="271" r:id="rId16"/>
    <p:sldId id="264" r:id="rId17"/>
    <p:sldId id="274" r:id="rId18"/>
    <p:sldId id="275" r:id="rId19"/>
    <p:sldId id="276" r:id="rId20"/>
    <p:sldId id="265" r:id="rId21"/>
  </p:sldIdLst>
  <p:sldSz cx="18288000" cy="10287000"/>
  <p:notesSz cx="6858000" cy="9144000"/>
  <p:embeddedFontLst>
    <p:embeddedFont>
      <p:font typeface="Consolas" panose="020B0609020204030204" pitchFamily="49" charset="0"/>
      <p:regular r:id="rId22"/>
      <p:bold r:id="rId23"/>
      <p:italic r:id="rId24"/>
      <p:boldItalic r:id="rId25"/>
    </p:embeddedFont>
    <p:embeddedFont>
      <p:font typeface="Glacial Indifference Bold" panose="020B0604020202020204" charset="0"/>
      <p:regular r:id="rId26"/>
      <p:bold r:id="rId27"/>
    </p:embeddedFont>
    <p:embeddedFont>
      <p:font typeface="HK Grotesk" panose="020B0604020202020204" charset="0"/>
      <p:regular r:id="rId28"/>
    </p:embeddedFont>
    <p:embeddedFont>
      <p:font typeface="HK Grotesk Italics" panose="020B0604020202020204" charset="0"/>
      <p:regular r:id="rId29"/>
      <p:italic r:id="rId30"/>
    </p:embeddedFont>
    <p:embeddedFont>
      <p:font typeface="Nunito" pitchFamily="2"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94611" autoAdjust="0"/>
  </p:normalViewPr>
  <p:slideViewPr>
    <p:cSldViewPr>
      <p:cViewPr varScale="1">
        <p:scale>
          <a:sx n="64" d="100"/>
          <a:sy n="64" d="100"/>
        </p:scale>
        <p:origin x="246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hyperlink" Target="https://www.geeksforgeeks.org/css/css-grid-auto-columns-property/" TargetMode="External"/><Relationship Id="rId13" Type="http://schemas.openxmlformats.org/officeDocument/2006/relationships/hyperlink" Target="https://www.geeksforgeeks.org/css/css-grid-column-gap-property/" TargetMode="External"/><Relationship Id="rId3" Type="http://schemas.openxmlformats.org/officeDocument/2006/relationships/image" Target="../media/image2.png"/><Relationship Id="rId7" Type="http://schemas.openxmlformats.org/officeDocument/2006/relationships/hyperlink" Target="https://www.geeksforgeeks.org/css/css-grid-area-property/" TargetMode="External"/><Relationship Id="rId12" Type="http://schemas.openxmlformats.org/officeDocument/2006/relationships/hyperlink" Target="https://www.geeksforgeeks.org/css/css-grid-column-end-property/"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www.geeksforgeeks.org/css/css-grid-property/" TargetMode="External"/><Relationship Id="rId11" Type="http://schemas.openxmlformats.org/officeDocument/2006/relationships/hyperlink" Target="https://www.geeksforgeeks.org/css/css-grid-column-property/" TargetMode="External"/><Relationship Id="rId5" Type="http://schemas.openxmlformats.org/officeDocument/2006/relationships/hyperlink" Target="https://www.geeksforgeeks.org/css/css-gap-property/" TargetMode="External"/><Relationship Id="rId10" Type="http://schemas.openxmlformats.org/officeDocument/2006/relationships/hyperlink" Target="https://www.geeksforgeeks.org/css/css-grid-auto-rows-property/" TargetMode="External"/><Relationship Id="rId4" Type="http://schemas.openxmlformats.org/officeDocument/2006/relationships/hyperlink" Target="https://www.geeksforgeeks.org/css/css-column-gap-property/" TargetMode="External"/><Relationship Id="rId9" Type="http://schemas.openxmlformats.org/officeDocument/2006/relationships/hyperlink" Target="https://www.geeksforgeeks.org/css/css-grid-auto-flow-property/" TargetMode="External"/><Relationship Id="rId14" Type="http://schemas.openxmlformats.org/officeDocument/2006/relationships/hyperlink" Target="https://www.geeksforgeeks.org/css/css-grid-column-start-property/"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www.geeksforgeeks.org/css/css-grid-row-start-property/" TargetMode="External"/><Relationship Id="rId13" Type="http://schemas.openxmlformats.org/officeDocument/2006/relationships/hyperlink" Target="https://www.geeksforgeeks.org/css/css-grid-template-rows-property/" TargetMode="External"/><Relationship Id="rId3" Type="http://schemas.openxmlformats.org/officeDocument/2006/relationships/image" Target="../media/image2.png"/><Relationship Id="rId7" Type="http://schemas.openxmlformats.org/officeDocument/2006/relationships/hyperlink" Target="https://www.geeksforgeeks.org/css/css-grid-row-gap-property/" TargetMode="External"/><Relationship Id="rId12" Type="http://schemas.openxmlformats.org/officeDocument/2006/relationships/hyperlink" Target="https://www.geeksforgeeks.org/css/css-grid-template-columns-property/"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www.geeksforgeeks.org/css/css-grid-row-end-property/" TargetMode="External"/><Relationship Id="rId11" Type="http://schemas.openxmlformats.org/officeDocument/2006/relationships/hyperlink" Target="https://www.geeksforgeeks.org/css/css-grid-template-areas-property/" TargetMode="External"/><Relationship Id="rId5" Type="http://schemas.openxmlformats.org/officeDocument/2006/relationships/hyperlink" Target="https://www.geeksforgeeks.org/css/css-grid-row-property/" TargetMode="External"/><Relationship Id="rId10" Type="http://schemas.openxmlformats.org/officeDocument/2006/relationships/hyperlink" Target="https://www.geeksforgeeks.org/css/css-shorthand-properties/" TargetMode="External"/><Relationship Id="rId4" Type="http://schemas.openxmlformats.org/officeDocument/2006/relationships/hyperlink" Target="https://www.geeksforgeeks.org/css/css-grid-gap-property/" TargetMode="External"/><Relationship Id="rId9" Type="http://schemas.openxmlformats.org/officeDocument/2006/relationships/hyperlink" Target="https://www.geeksforgeeks.org/css/css-grid-template-propert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s://www.geeksforgeeks.org/css/css-grid-layout-modul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4338336" y="-3273956"/>
            <a:ext cx="9611327" cy="13560956"/>
          </a:xfrm>
          <a:custGeom>
            <a:avLst/>
            <a:gdLst/>
            <a:ahLst/>
            <a:cxnLst/>
            <a:rect l="l" t="t" r="r" b="b"/>
            <a:pathLst>
              <a:path w="9611327" h="13560956">
                <a:moveTo>
                  <a:pt x="0" y="0"/>
                </a:moveTo>
                <a:lnTo>
                  <a:pt x="9611328" y="0"/>
                </a:lnTo>
                <a:lnTo>
                  <a:pt x="9611328" y="13560956"/>
                </a:lnTo>
                <a:lnTo>
                  <a:pt x="0" y="13560956"/>
                </a:lnTo>
                <a:lnTo>
                  <a:pt x="0" y="0"/>
                </a:lnTo>
                <a:close/>
              </a:path>
            </a:pathLst>
          </a:custGeom>
          <a:blipFill>
            <a:blip r:embed="rId3"/>
            <a:stretch>
              <a:fillRect/>
            </a:stretch>
          </a:blipFill>
        </p:spPr>
      </p:sp>
      <p:sp>
        <p:nvSpPr>
          <p:cNvPr id="6" name="TextBox 6"/>
          <p:cNvSpPr txBox="1"/>
          <p:nvPr/>
        </p:nvSpPr>
        <p:spPr>
          <a:xfrm>
            <a:off x="4651632" y="2472556"/>
            <a:ext cx="8984736" cy="4347344"/>
          </a:xfrm>
          <a:prstGeom prst="rect">
            <a:avLst/>
          </a:prstGeom>
        </p:spPr>
        <p:txBody>
          <a:bodyPr lIns="0" tIns="0" rIns="0" bIns="0" rtlCol="0" anchor="t">
            <a:spAutoFit/>
          </a:bodyPr>
          <a:lstStyle/>
          <a:p>
            <a:pPr algn="ctr">
              <a:lnSpc>
                <a:spcPts val="11307"/>
              </a:lnSpc>
            </a:pPr>
            <a:r>
              <a:rPr lang="en-US" sz="10006" b="1" dirty="0">
                <a:solidFill>
                  <a:srgbClr val="FFFFFF"/>
                </a:solidFill>
                <a:latin typeface="Glacial Indifference Bold"/>
                <a:ea typeface="Glacial Indifference Bold"/>
                <a:cs typeface="Glacial Indifference Bold"/>
                <a:sym typeface="Glacial Indifference Bold"/>
              </a:rPr>
              <a:t>LAYOUT TECHNIQUES IN CSS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4000500" y="-4000500"/>
            <a:ext cx="10287000" cy="18288000"/>
          </a:xfrm>
          <a:custGeom>
            <a:avLst/>
            <a:gdLst/>
            <a:ahLst/>
            <a:cxnLst/>
            <a:rect l="l" t="t" r="r" b="b"/>
            <a:pathLst>
              <a:path w="10287000" h="14514286">
                <a:moveTo>
                  <a:pt x="0" y="0"/>
                </a:moveTo>
                <a:lnTo>
                  <a:pt x="10287000" y="0"/>
                </a:lnTo>
                <a:lnTo>
                  <a:pt x="10287000" y="14514286"/>
                </a:lnTo>
                <a:lnTo>
                  <a:pt x="0" y="14514286"/>
                </a:lnTo>
                <a:lnTo>
                  <a:pt x="0" y="0"/>
                </a:lnTo>
                <a:close/>
              </a:path>
            </a:pathLst>
          </a:custGeom>
          <a:blipFill>
            <a:blip r:embed="rId3"/>
            <a:stretch>
              <a:fillRect/>
            </a:stretch>
          </a:blipFill>
        </p:spPr>
      </p:sp>
      <p:sp>
        <p:nvSpPr>
          <p:cNvPr id="8" name="TextBox 8"/>
          <p:cNvSpPr txBox="1"/>
          <p:nvPr/>
        </p:nvSpPr>
        <p:spPr>
          <a:xfrm>
            <a:off x="830955" y="1772846"/>
            <a:ext cx="8246439" cy="1996124"/>
          </a:xfrm>
          <a:prstGeom prst="rect">
            <a:avLst/>
          </a:prstGeom>
        </p:spPr>
        <p:txBody>
          <a:bodyPr wrap="square" lIns="0" tIns="0" rIns="0" bIns="0" rtlCol="0" anchor="t">
            <a:spAutoFit/>
          </a:bodyPr>
          <a:lstStyle/>
          <a:p>
            <a:pPr algn="l">
              <a:lnSpc>
                <a:spcPts val="8039"/>
              </a:lnSpc>
            </a:pPr>
            <a:r>
              <a:rPr lang="en-US" sz="6000" b="1" dirty="0">
                <a:solidFill>
                  <a:schemeClr val="bg1"/>
                </a:solidFill>
              </a:rPr>
              <a:t>Flexbox, Grid, Containers, and Wrappers</a:t>
            </a:r>
            <a:endParaRPr lang="en-US" sz="6000" b="1" dirty="0">
              <a:solidFill>
                <a:schemeClr val="bg1"/>
              </a:solidFill>
              <a:latin typeface="Glacial Indifference Bold"/>
              <a:ea typeface="Glacial Indifference Bold"/>
              <a:cs typeface="Glacial Indifference Bold"/>
              <a:sym typeface="Glacial Indifference Bold"/>
            </a:endParaRPr>
          </a:p>
        </p:txBody>
      </p:sp>
      <p:sp>
        <p:nvSpPr>
          <p:cNvPr id="9" name="TextBox 9"/>
          <p:cNvSpPr txBox="1"/>
          <p:nvPr/>
        </p:nvSpPr>
        <p:spPr>
          <a:xfrm>
            <a:off x="1028700" y="4280023"/>
            <a:ext cx="15278100" cy="2091150"/>
          </a:xfrm>
          <a:prstGeom prst="rect">
            <a:avLst/>
          </a:prstGeom>
        </p:spPr>
        <p:txBody>
          <a:bodyPr wrap="square" lIns="0" tIns="0" rIns="0" bIns="0" rtlCol="0" anchor="t">
            <a:spAutoFit/>
          </a:bodyPr>
          <a:lstStyle/>
          <a:p>
            <a:pPr algn="just">
              <a:lnSpc>
                <a:spcPts val="4147"/>
              </a:lnSpc>
            </a:pPr>
            <a:r>
              <a:rPr lang="en-US" sz="3200" dirty="0">
                <a:solidFill>
                  <a:schemeClr val="bg1"/>
                </a:solidFill>
              </a:rPr>
              <a:t>In modern web development, </a:t>
            </a:r>
            <a:r>
              <a:rPr lang="en-US" sz="3200" b="1" dirty="0">
                <a:solidFill>
                  <a:schemeClr val="bg1"/>
                </a:solidFill>
              </a:rPr>
              <a:t>layout techniques</a:t>
            </a:r>
            <a:r>
              <a:rPr lang="en-US" sz="3200" dirty="0">
                <a:solidFill>
                  <a:schemeClr val="bg1"/>
                </a:solidFill>
              </a:rPr>
              <a:t> are essential in designing responsive, organized, and user-friendly interfaces. Among the most powerful layout systems in CSS are </a:t>
            </a:r>
            <a:r>
              <a:rPr lang="en-US" sz="3200" b="1" dirty="0">
                <a:solidFill>
                  <a:schemeClr val="bg1"/>
                </a:solidFill>
              </a:rPr>
              <a:t>Flexbox</a:t>
            </a:r>
            <a:r>
              <a:rPr lang="en-US" sz="3200" dirty="0">
                <a:solidFill>
                  <a:schemeClr val="bg1"/>
                </a:solidFill>
              </a:rPr>
              <a:t> and </a:t>
            </a:r>
            <a:r>
              <a:rPr lang="en-US" sz="3200" b="1" dirty="0">
                <a:solidFill>
                  <a:schemeClr val="bg1"/>
                </a:solidFill>
              </a:rPr>
              <a:t>Grid</a:t>
            </a:r>
            <a:r>
              <a:rPr lang="en-US" sz="3200" dirty="0">
                <a:solidFill>
                  <a:schemeClr val="bg1"/>
                </a:solidFill>
              </a:rPr>
              <a:t>, often used alongside </a:t>
            </a:r>
            <a:r>
              <a:rPr lang="en-US" sz="3200" b="1" dirty="0">
                <a:solidFill>
                  <a:schemeClr val="bg1"/>
                </a:solidFill>
              </a:rPr>
              <a:t>containers</a:t>
            </a:r>
            <a:r>
              <a:rPr lang="en-US" sz="3200" dirty="0">
                <a:solidFill>
                  <a:schemeClr val="bg1"/>
                </a:solidFill>
              </a:rPr>
              <a:t> and </a:t>
            </a:r>
            <a:r>
              <a:rPr lang="en-US" sz="3200" b="1" dirty="0">
                <a:solidFill>
                  <a:schemeClr val="bg1"/>
                </a:solidFill>
              </a:rPr>
              <a:t>wrappers</a:t>
            </a:r>
            <a:r>
              <a:rPr lang="en-US" sz="3200" dirty="0">
                <a:solidFill>
                  <a:schemeClr val="bg1"/>
                </a:solidFill>
              </a:rPr>
              <a:t> to control and structure web page elements.</a:t>
            </a:r>
            <a:endParaRPr lang="en-US" sz="2962" dirty="0">
              <a:solidFill>
                <a:schemeClr val="bg1"/>
              </a:solidFill>
              <a:latin typeface="HK Grotesk"/>
              <a:ea typeface="HK Grotesk"/>
              <a:cs typeface="HK Grotesk"/>
              <a:sym typeface="HK Grotes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flipV="1">
            <a:off x="5887357" y="-2113643"/>
            <a:ext cx="10287000" cy="14514286"/>
          </a:xfrm>
          <a:custGeom>
            <a:avLst/>
            <a:gdLst/>
            <a:ahLst/>
            <a:cxnLst/>
            <a:rect l="l" t="t" r="r" b="b"/>
            <a:pathLst>
              <a:path w="10287000" h="14514286">
                <a:moveTo>
                  <a:pt x="0" y="14514286"/>
                </a:moveTo>
                <a:lnTo>
                  <a:pt x="10287000" y="14514286"/>
                </a:lnTo>
                <a:lnTo>
                  <a:pt x="10287000" y="0"/>
                </a:lnTo>
                <a:lnTo>
                  <a:pt x="0" y="0"/>
                </a:lnTo>
                <a:lnTo>
                  <a:pt x="0" y="14514286"/>
                </a:lnTo>
                <a:close/>
              </a:path>
            </a:pathLst>
          </a:custGeom>
          <a:blipFill>
            <a:blip r:embed="rId3"/>
            <a:stretch>
              <a:fillRect/>
            </a:stretch>
          </a:blipFill>
        </p:spPr>
      </p:sp>
      <p:sp>
        <p:nvSpPr>
          <p:cNvPr id="5" name="TextBox 5"/>
          <p:cNvSpPr txBox="1"/>
          <p:nvPr/>
        </p:nvSpPr>
        <p:spPr>
          <a:xfrm>
            <a:off x="457200" y="1117600"/>
            <a:ext cx="5330557" cy="1044320"/>
          </a:xfrm>
          <a:prstGeom prst="rect">
            <a:avLst/>
          </a:prstGeom>
        </p:spPr>
        <p:txBody>
          <a:bodyPr lIns="0" tIns="0" rIns="0" bIns="0" rtlCol="0" anchor="t">
            <a:spAutoFit/>
          </a:bodyPr>
          <a:lstStyle/>
          <a:p>
            <a:pPr>
              <a:lnSpc>
                <a:spcPts val="8039"/>
              </a:lnSpc>
            </a:pPr>
            <a:r>
              <a:rPr lang="en-US" sz="7114" b="1" dirty="0">
                <a:solidFill>
                  <a:srgbClr val="FFFFFF"/>
                </a:solidFill>
                <a:latin typeface="Glacial Indifference Bold"/>
                <a:ea typeface="Glacial Indifference Bold"/>
                <a:cs typeface="Glacial Indifference Bold"/>
                <a:sym typeface="Glacial Indifference Bold"/>
              </a:rPr>
              <a:t>CSS GRIDS</a:t>
            </a:r>
          </a:p>
        </p:txBody>
      </p:sp>
      <p:sp>
        <p:nvSpPr>
          <p:cNvPr id="6" name="TextBox 6"/>
          <p:cNvSpPr txBox="1"/>
          <p:nvPr/>
        </p:nvSpPr>
        <p:spPr>
          <a:xfrm>
            <a:off x="9437529" y="3777343"/>
            <a:ext cx="7821771" cy="3939540"/>
          </a:xfrm>
          <a:prstGeom prst="rect">
            <a:avLst/>
          </a:prstGeom>
        </p:spPr>
        <p:txBody>
          <a:bodyPr lIns="0" tIns="0" rIns="0" bIns="0" rtlCol="0" anchor="t">
            <a:spAutoFit/>
          </a:bodyPr>
          <a:lstStyle/>
          <a:p>
            <a:pPr algn="just" rtl="0" fontAlgn="base"/>
            <a:r>
              <a:rPr lang="en-US" sz="3200" b="0" i="0" dirty="0">
                <a:solidFill>
                  <a:srgbClr val="FFFFFF"/>
                </a:solidFill>
                <a:effectLst/>
                <a:latin typeface="Nunito" pitchFamily="2" charset="77"/>
              </a:rPr>
              <a:t>CSS Grid Layout is used to design responsive web layouts with rows and columns. It allows you to place items exactly where you want, making it easier to create flexible and modern web pages.</a:t>
            </a:r>
          </a:p>
          <a:p>
            <a:pPr algn="just" rtl="0" fontAlgn="base"/>
            <a:r>
              <a:rPr lang="en-US" sz="3200" b="0" i="0" dirty="0">
                <a:solidFill>
                  <a:srgbClr val="FFFFFF"/>
                </a:solidFill>
                <a:effectLst/>
                <a:latin typeface="Nunito" pitchFamily="2" charset="77"/>
              </a:rPr>
              <a:t>Unlike older methods like floats, CSS Grid gives more control over alignment and adapts well to different screen sizes.</a:t>
            </a:r>
          </a:p>
        </p:txBody>
      </p:sp>
      <p:pic>
        <p:nvPicPr>
          <p:cNvPr id="10" name="Picture 9">
            <a:extLst>
              <a:ext uri="{FF2B5EF4-FFF2-40B4-BE49-F238E27FC236}">
                <a16:creationId xmlns:a16="http://schemas.microsoft.com/office/drawing/2014/main" id="{F8546C6E-937D-A070-6A6B-66FE19C42599}"/>
              </a:ext>
            </a:extLst>
          </p:cNvPr>
          <p:cNvPicPr>
            <a:picLocks noChangeAspect="1"/>
          </p:cNvPicPr>
          <p:nvPr/>
        </p:nvPicPr>
        <p:blipFill>
          <a:blip r:embed="rId4"/>
          <a:stretch>
            <a:fillRect/>
          </a:stretch>
        </p:blipFill>
        <p:spPr>
          <a:xfrm>
            <a:off x="715215" y="3771900"/>
            <a:ext cx="8135257" cy="3860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2113643" y="-2113643"/>
            <a:ext cx="10287000" cy="14514286"/>
          </a:xfrm>
          <a:custGeom>
            <a:avLst/>
            <a:gdLst/>
            <a:ahLst/>
            <a:cxnLst/>
            <a:rect l="l" t="t" r="r" b="b"/>
            <a:pathLst>
              <a:path w="10287000" h="14514286">
                <a:moveTo>
                  <a:pt x="0" y="0"/>
                </a:moveTo>
                <a:lnTo>
                  <a:pt x="10287000" y="0"/>
                </a:lnTo>
                <a:lnTo>
                  <a:pt x="10287000" y="14514286"/>
                </a:lnTo>
                <a:lnTo>
                  <a:pt x="0" y="14514286"/>
                </a:lnTo>
                <a:lnTo>
                  <a:pt x="0" y="0"/>
                </a:lnTo>
                <a:close/>
              </a:path>
            </a:pathLst>
          </a:custGeom>
          <a:blipFill>
            <a:blip r:embed="rId3"/>
            <a:stretch>
              <a:fillRect/>
            </a:stretch>
          </a:blipFill>
        </p:spPr>
        <p:txBody>
          <a:bodyPr/>
          <a:lstStyle/>
          <a:p>
            <a:endParaRPr lang="en-US" dirty="0"/>
          </a:p>
        </p:txBody>
      </p:sp>
      <p:sp>
        <p:nvSpPr>
          <p:cNvPr id="13" name="TextBox 6">
            <a:extLst>
              <a:ext uri="{FF2B5EF4-FFF2-40B4-BE49-F238E27FC236}">
                <a16:creationId xmlns:a16="http://schemas.microsoft.com/office/drawing/2014/main" id="{8D2075BE-E132-AA5B-22E1-1034CC977D1E}"/>
              </a:ext>
            </a:extLst>
          </p:cNvPr>
          <p:cNvSpPr txBox="1"/>
          <p:nvPr/>
        </p:nvSpPr>
        <p:spPr>
          <a:xfrm>
            <a:off x="943491" y="1321593"/>
            <a:ext cx="6959552" cy="2462213"/>
          </a:xfrm>
          <a:prstGeom prst="rect">
            <a:avLst/>
          </a:prstGeom>
        </p:spPr>
        <p:txBody>
          <a:bodyPr wrap="square" lIns="0" tIns="0" rIns="0" bIns="0" rtlCol="0" anchor="t">
            <a:spAutoFit/>
          </a:bodyPr>
          <a:lstStyle/>
          <a:p>
            <a:pPr algn="l" fontAlgn="base"/>
            <a:r>
              <a:rPr lang="en-US" sz="3200" b="0" i="0" dirty="0">
                <a:solidFill>
                  <a:srgbClr val="FFFFFF"/>
                </a:solidFill>
                <a:effectLst/>
                <a:latin typeface="Nunito" pitchFamily="2" charset="77"/>
              </a:rPr>
              <a:t>The .</a:t>
            </a:r>
            <a:r>
              <a:rPr lang="en-US" sz="3200" b="1" i="0" dirty="0">
                <a:solidFill>
                  <a:srgbClr val="FFFFFF"/>
                </a:solidFill>
                <a:effectLst/>
                <a:latin typeface="Nunito" pitchFamily="2" charset="77"/>
              </a:rPr>
              <a:t>grid-container</a:t>
            </a:r>
            <a:r>
              <a:rPr lang="en-US" sz="3200" b="0" i="0" dirty="0">
                <a:solidFill>
                  <a:srgbClr val="FFFFFF"/>
                </a:solidFill>
                <a:effectLst/>
                <a:latin typeface="Nunito" pitchFamily="2" charset="77"/>
              </a:rPr>
              <a:t> uses </a:t>
            </a:r>
            <a:r>
              <a:rPr lang="en-US" sz="3200" b="1" i="0" dirty="0">
                <a:solidFill>
                  <a:srgbClr val="FFFFFF"/>
                </a:solidFill>
                <a:effectLst/>
                <a:latin typeface="Nunito" pitchFamily="2" charset="77"/>
              </a:rPr>
              <a:t>display: grid;</a:t>
            </a:r>
            <a:r>
              <a:rPr lang="en-US" sz="3200" b="0" i="0" dirty="0">
                <a:solidFill>
                  <a:srgbClr val="FFFFFF"/>
                </a:solidFill>
                <a:effectLst/>
                <a:latin typeface="Nunito" pitchFamily="2" charset="77"/>
              </a:rPr>
              <a:t> to define a grid layout with two columns (grid-template-columns: auto auto;) and a 10px gap between items.</a:t>
            </a:r>
          </a:p>
        </p:txBody>
      </p:sp>
      <p:sp>
        <p:nvSpPr>
          <p:cNvPr id="15" name="TextBox 6">
            <a:extLst>
              <a:ext uri="{FF2B5EF4-FFF2-40B4-BE49-F238E27FC236}">
                <a16:creationId xmlns:a16="http://schemas.microsoft.com/office/drawing/2014/main" id="{4963D1DB-5A9C-8394-305B-EB1C783DF26B}"/>
              </a:ext>
            </a:extLst>
          </p:cNvPr>
          <p:cNvSpPr txBox="1"/>
          <p:nvPr/>
        </p:nvSpPr>
        <p:spPr>
          <a:xfrm>
            <a:off x="796535" y="4629162"/>
            <a:ext cx="9220200" cy="3447098"/>
          </a:xfrm>
          <a:prstGeom prst="rect">
            <a:avLst/>
          </a:prstGeom>
        </p:spPr>
        <p:txBody>
          <a:bodyPr wrap="square" lIns="0" tIns="0" rIns="0" bIns="0" rtlCol="0" anchor="t">
            <a:spAutoFit/>
          </a:bodyPr>
          <a:lstStyle/>
          <a:p>
            <a:r>
              <a:rPr lang="en-US" sz="2800" b="0" dirty="0">
                <a:solidFill>
                  <a:srgbClr val="D7BA7D"/>
                </a:solidFill>
                <a:effectLst/>
                <a:latin typeface="Menlo" panose="020B0609030804020204" pitchFamily="49" charset="0"/>
              </a:rPr>
              <a:t>.grid-container</a:t>
            </a:r>
            <a:r>
              <a:rPr lang="en-US" sz="2800" b="0" dirty="0">
                <a:solidFill>
                  <a:srgbClr val="D4D4D4"/>
                </a:solidFill>
                <a:effectLst/>
                <a:latin typeface="Menlo" panose="020B0609030804020204" pitchFamily="49" charset="0"/>
              </a:rPr>
              <a:t> {</a:t>
            </a:r>
          </a:p>
          <a:p>
            <a:r>
              <a:rPr lang="en-US" sz="2800" b="0" dirty="0">
                <a:solidFill>
                  <a:srgbClr val="9CDCFE"/>
                </a:solidFill>
                <a:effectLst/>
                <a:latin typeface="Menlo" panose="020B0609030804020204" pitchFamily="49" charset="0"/>
              </a:rPr>
              <a:t>	display</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grid</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	grid-template-columns</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auto</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auto</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	gap</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10px</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D7BA7D"/>
                </a:solidFill>
                <a:effectLst/>
                <a:latin typeface="Menlo" panose="020B0609030804020204" pitchFamily="49" charset="0"/>
              </a:rPr>
              <a:t>.grid-item</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	outline</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1px</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solid</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black</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p:txBody>
      </p:sp>
      <p:sp>
        <p:nvSpPr>
          <p:cNvPr id="16" name="Rectangle 15">
            <a:extLst>
              <a:ext uri="{FF2B5EF4-FFF2-40B4-BE49-F238E27FC236}">
                <a16:creationId xmlns:a16="http://schemas.microsoft.com/office/drawing/2014/main" id="{260C5E4E-4ABB-20AA-FEDB-E7CD686AF427}"/>
              </a:ext>
            </a:extLst>
          </p:cNvPr>
          <p:cNvSpPr/>
          <p:nvPr/>
        </p:nvSpPr>
        <p:spPr>
          <a:xfrm>
            <a:off x="9448800" y="2021889"/>
            <a:ext cx="7696200" cy="69342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0916A45-9AB0-9AA4-FA8C-276ABB7B849F}"/>
              </a:ext>
            </a:extLst>
          </p:cNvPr>
          <p:cNvSpPr/>
          <p:nvPr/>
        </p:nvSpPr>
        <p:spPr>
          <a:xfrm>
            <a:off x="9731967" y="2400300"/>
            <a:ext cx="3526832" cy="1907589"/>
          </a:xfrm>
          <a:prstGeom prst="rect">
            <a:avLst/>
          </a:prstGeom>
          <a:solidFill>
            <a:schemeClr val="bg1"/>
          </a:solid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ITEM 1</a:t>
            </a:r>
          </a:p>
        </p:txBody>
      </p:sp>
      <p:sp>
        <p:nvSpPr>
          <p:cNvPr id="18" name="Rectangle 17">
            <a:extLst>
              <a:ext uri="{FF2B5EF4-FFF2-40B4-BE49-F238E27FC236}">
                <a16:creationId xmlns:a16="http://schemas.microsoft.com/office/drawing/2014/main" id="{318AF4EB-DE0A-2ACF-E8F3-BD5B7D64BF0E}"/>
              </a:ext>
            </a:extLst>
          </p:cNvPr>
          <p:cNvSpPr/>
          <p:nvPr/>
        </p:nvSpPr>
        <p:spPr>
          <a:xfrm>
            <a:off x="9731967" y="4563899"/>
            <a:ext cx="3526833" cy="1907589"/>
          </a:xfrm>
          <a:prstGeom prst="rect">
            <a:avLst/>
          </a:prstGeom>
          <a:solidFill>
            <a:schemeClr val="bg1"/>
          </a:solid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ITEM 3</a:t>
            </a:r>
          </a:p>
        </p:txBody>
      </p:sp>
      <p:sp>
        <p:nvSpPr>
          <p:cNvPr id="19" name="Rectangle 18">
            <a:extLst>
              <a:ext uri="{FF2B5EF4-FFF2-40B4-BE49-F238E27FC236}">
                <a16:creationId xmlns:a16="http://schemas.microsoft.com/office/drawing/2014/main" id="{5F76370C-2EFE-B246-AC0B-B4B0A26F2B5C}"/>
              </a:ext>
            </a:extLst>
          </p:cNvPr>
          <p:cNvSpPr/>
          <p:nvPr/>
        </p:nvSpPr>
        <p:spPr>
          <a:xfrm>
            <a:off x="13541966" y="2400300"/>
            <a:ext cx="3330920" cy="1907589"/>
          </a:xfrm>
          <a:prstGeom prst="rect">
            <a:avLst/>
          </a:prstGeom>
          <a:solidFill>
            <a:schemeClr val="bg1"/>
          </a:solid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ITEM 2</a:t>
            </a:r>
          </a:p>
        </p:txBody>
      </p:sp>
      <p:sp>
        <p:nvSpPr>
          <p:cNvPr id="20" name="Rectangle 19">
            <a:extLst>
              <a:ext uri="{FF2B5EF4-FFF2-40B4-BE49-F238E27FC236}">
                <a16:creationId xmlns:a16="http://schemas.microsoft.com/office/drawing/2014/main" id="{EA14CD39-90B3-A01D-D67F-1DFBCECD85F0}"/>
              </a:ext>
            </a:extLst>
          </p:cNvPr>
          <p:cNvSpPr/>
          <p:nvPr/>
        </p:nvSpPr>
        <p:spPr>
          <a:xfrm>
            <a:off x="13541967" y="4569342"/>
            <a:ext cx="3330920" cy="1907589"/>
          </a:xfrm>
          <a:prstGeom prst="rect">
            <a:avLst/>
          </a:prstGeom>
          <a:solidFill>
            <a:schemeClr val="bg1"/>
          </a:solid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ITEM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flipV="1">
            <a:off x="5887357" y="-2113643"/>
            <a:ext cx="10287000" cy="14514286"/>
          </a:xfrm>
          <a:custGeom>
            <a:avLst/>
            <a:gdLst/>
            <a:ahLst/>
            <a:cxnLst/>
            <a:rect l="l" t="t" r="r" b="b"/>
            <a:pathLst>
              <a:path w="10287000" h="14514286">
                <a:moveTo>
                  <a:pt x="0" y="14514286"/>
                </a:moveTo>
                <a:lnTo>
                  <a:pt x="10287000" y="14514286"/>
                </a:lnTo>
                <a:lnTo>
                  <a:pt x="10287000" y="0"/>
                </a:lnTo>
                <a:lnTo>
                  <a:pt x="0" y="0"/>
                </a:lnTo>
                <a:lnTo>
                  <a:pt x="0" y="14514286"/>
                </a:lnTo>
                <a:close/>
              </a:path>
            </a:pathLst>
          </a:custGeom>
          <a:blipFill>
            <a:blip r:embed="rId3"/>
            <a:stretch>
              <a:fillRect/>
            </a:stretch>
          </a:blipFill>
        </p:spPr>
      </p:sp>
      <p:graphicFrame>
        <p:nvGraphicFramePr>
          <p:cNvPr id="16" name="Table 15">
            <a:extLst>
              <a:ext uri="{FF2B5EF4-FFF2-40B4-BE49-F238E27FC236}">
                <a16:creationId xmlns:a16="http://schemas.microsoft.com/office/drawing/2014/main" id="{ECCD783F-C835-EB99-E982-3A133ECA045C}"/>
              </a:ext>
            </a:extLst>
          </p:cNvPr>
          <p:cNvGraphicFramePr>
            <a:graphicFrameLocks noGrp="1"/>
          </p:cNvGraphicFramePr>
          <p:nvPr>
            <p:extLst>
              <p:ext uri="{D42A27DB-BD31-4B8C-83A1-F6EECF244321}">
                <p14:modId xmlns:p14="http://schemas.microsoft.com/office/powerpoint/2010/main" val="3608038005"/>
              </p:ext>
            </p:extLst>
          </p:nvPr>
        </p:nvGraphicFramePr>
        <p:xfrm>
          <a:off x="5940157" y="1050656"/>
          <a:ext cx="11277600" cy="8185688"/>
        </p:xfrm>
        <a:graphic>
          <a:graphicData uri="http://schemas.openxmlformats.org/drawingml/2006/table">
            <a:tbl>
              <a:tblPr/>
              <a:tblGrid>
                <a:gridCol w="3608832">
                  <a:extLst>
                    <a:ext uri="{9D8B030D-6E8A-4147-A177-3AD203B41FA5}">
                      <a16:colId xmlns:a16="http://schemas.microsoft.com/office/drawing/2014/main" val="2658306347"/>
                    </a:ext>
                  </a:extLst>
                </a:gridCol>
                <a:gridCol w="7668768">
                  <a:extLst>
                    <a:ext uri="{9D8B030D-6E8A-4147-A177-3AD203B41FA5}">
                      <a16:colId xmlns:a16="http://schemas.microsoft.com/office/drawing/2014/main" val="3099066858"/>
                    </a:ext>
                  </a:extLst>
                </a:gridCol>
              </a:tblGrid>
              <a:tr h="377483">
                <a:tc>
                  <a:txBody>
                    <a:bodyPr/>
                    <a:lstStyle/>
                    <a:p>
                      <a:pPr algn="ctr" rtl="0" fontAlgn="base"/>
                      <a:r>
                        <a:rPr lang="en-US" sz="2000" b="1" dirty="0">
                          <a:solidFill>
                            <a:schemeClr val="bg1"/>
                          </a:solidFill>
                          <a:effectLst/>
                        </a:rPr>
                        <a:t>Property</a:t>
                      </a:r>
                    </a:p>
                  </a:txBody>
                  <a:tcPr marL="25484" marR="25484" marT="63710" marB="6371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2000" b="1" dirty="0">
                          <a:solidFill>
                            <a:schemeClr val="bg1"/>
                          </a:solidFill>
                          <a:effectLst/>
                        </a:rPr>
                        <a:t>Description</a:t>
                      </a:r>
                    </a:p>
                  </a:txBody>
                  <a:tcPr marL="63710" marR="63710" marT="63710" marB="6371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extLst>
                  <a:ext uri="{0D108BD9-81ED-4DB2-BD59-A6C34878D82A}">
                    <a16:rowId xmlns:a16="http://schemas.microsoft.com/office/drawing/2014/main" val="2047219482"/>
                  </a:ext>
                </a:extLst>
              </a:tr>
              <a:tr h="605395">
                <a:tc>
                  <a:txBody>
                    <a:bodyPr/>
                    <a:lstStyle/>
                    <a:p>
                      <a:pPr algn="ctr" rtl="0" fontAlgn="base"/>
                      <a:r>
                        <a:rPr lang="en-US" dirty="0">
                          <a:solidFill>
                            <a:schemeClr val="tx2">
                              <a:lumMod val="60000"/>
                              <a:lumOff val="40000"/>
                            </a:schemeClr>
                          </a:solidFill>
                          <a:hlinkClick r:id="rId4">
                            <a:extLst>
                              <a:ext uri="{A12FA001-AC4F-418D-AE19-62706E023703}">
                                <ahyp:hlinkClr xmlns:ahyp="http://schemas.microsoft.com/office/drawing/2018/hyperlinkcolor" val="tx"/>
                              </a:ext>
                            </a:extLst>
                          </a:hlinkClick>
                        </a:rPr>
                        <a:t>column-gap</a:t>
                      </a:r>
                      <a:endParaRPr lang="en-US" dirty="0">
                        <a:solidFill>
                          <a:schemeClr val="tx2">
                            <a:lumMod val="60000"/>
                            <a:lumOff val="40000"/>
                          </a:schemeClr>
                        </a:solidFill>
                      </a:endParaRPr>
                    </a:p>
                  </a:txBody>
                  <a:tcPr marL="25484" marR="25484" marT="44693" marB="446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2000" b="0" dirty="0">
                          <a:solidFill>
                            <a:schemeClr val="bg1"/>
                          </a:solidFill>
                          <a:effectLst/>
                        </a:rPr>
                        <a:t>Defines the amount of space between columns in a multi-column layout, often used with column-count in CSS Grid.</a:t>
                      </a:r>
                    </a:p>
                  </a:txBody>
                  <a:tcPr marL="63710" marR="63710" marT="89194" marB="891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4292066246"/>
                  </a:ext>
                </a:extLst>
              </a:tr>
              <a:tr h="605395">
                <a:tc>
                  <a:txBody>
                    <a:bodyPr/>
                    <a:lstStyle/>
                    <a:p>
                      <a:pPr algn="ctr" rtl="0" fontAlgn="base"/>
                      <a:r>
                        <a:rPr lang="en-US" dirty="0">
                          <a:solidFill>
                            <a:schemeClr val="tx2">
                              <a:lumMod val="60000"/>
                              <a:lumOff val="40000"/>
                            </a:schemeClr>
                          </a:solidFill>
                          <a:hlinkClick r:id="rId5">
                            <a:extLst>
                              <a:ext uri="{A12FA001-AC4F-418D-AE19-62706E023703}">
                                <ahyp:hlinkClr xmlns:ahyp="http://schemas.microsoft.com/office/drawing/2018/hyperlinkcolor" val="tx"/>
                              </a:ext>
                            </a:extLst>
                          </a:hlinkClick>
                        </a:rPr>
                        <a:t>gap</a:t>
                      </a:r>
                      <a:endParaRPr lang="en-US" dirty="0">
                        <a:solidFill>
                          <a:schemeClr val="tx2">
                            <a:lumMod val="60000"/>
                            <a:lumOff val="40000"/>
                          </a:schemeClr>
                        </a:solidFill>
                      </a:endParaRPr>
                    </a:p>
                  </a:txBody>
                  <a:tcPr marL="25484" marR="25484" marT="44693" marB="446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2000" b="0" dirty="0">
                          <a:solidFill>
                            <a:schemeClr val="bg1"/>
                          </a:solidFill>
                          <a:effectLst/>
                        </a:rPr>
                        <a:t>Specifies the spacing (also called gutter) between rows and columns in CSS Grid and Flexbox layouts.</a:t>
                      </a:r>
                    </a:p>
                  </a:txBody>
                  <a:tcPr marL="63710" marR="63710" marT="89194" marB="891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911801554"/>
                  </a:ext>
                </a:extLst>
              </a:tr>
              <a:tr h="605395">
                <a:tc>
                  <a:txBody>
                    <a:bodyPr/>
                    <a:lstStyle/>
                    <a:p>
                      <a:pPr algn="ctr" rtl="0" fontAlgn="base"/>
                      <a:r>
                        <a:rPr lang="en-US" dirty="0">
                          <a:solidFill>
                            <a:schemeClr val="tx2">
                              <a:lumMod val="60000"/>
                              <a:lumOff val="40000"/>
                            </a:schemeClr>
                          </a:solidFill>
                          <a:hlinkClick r:id="rId6">
                            <a:extLst>
                              <a:ext uri="{A12FA001-AC4F-418D-AE19-62706E023703}">
                                <ahyp:hlinkClr xmlns:ahyp="http://schemas.microsoft.com/office/drawing/2018/hyperlinkcolor" val="tx"/>
                              </a:ext>
                            </a:extLst>
                          </a:hlinkClick>
                        </a:rPr>
                        <a:t>grid</a:t>
                      </a:r>
                      <a:endParaRPr lang="en-US" dirty="0">
                        <a:solidFill>
                          <a:schemeClr val="tx2">
                            <a:lumMod val="60000"/>
                            <a:lumOff val="40000"/>
                          </a:schemeClr>
                        </a:solidFill>
                      </a:endParaRPr>
                    </a:p>
                  </a:txBody>
                  <a:tcPr marL="25484" marR="25484" marT="44693" marB="446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2000" b="0" dirty="0">
                          <a:solidFill>
                            <a:schemeClr val="bg1"/>
                          </a:solidFill>
                          <a:effectLst/>
                        </a:rPr>
                        <a:t>A grid-based layout system in CSS that provides rows and columns, simplifying the design without using floats or positioning.</a:t>
                      </a:r>
                    </a:p>
                  </a:txBody>
                  <a:tcPr marL="63710" marR="63710" marT="89194" marB="891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1586191791"/>
                  </a:ext>
                </a:extLst>
              </a:tr>
              <a:tr h="605395">
                <a:tc>
                  <a:txBody>
                    <a:bodyPr/>
                    <a:lstStyle/>
                    <a:p>
                      <a:pPr algn="ctr" rtl="0" fontAlgn="base"/>
                      <a:r>
                        <a:rPr lang="en-US" dirty="0">
                          <a:solidFill>
                            <a:schemeClr val="tx2">
                              <a:lumMod val="60000"/>
                              <a:lumOff val="40000"/>
                            </a:schemeClr>
                          </a:solidFill>
                          <a:hlinkClick r:id="rId7">
                            <a:extLst>
                              <a:ext uri="{A12FA001-AC4F-418D-AE19-62706E023703}">
                                <ahyp:hlinkClr xmlns:ahyp="http://schemas.microsoft.com/office/drawing/2018/hyperlinkcolor" val="tx"/>
                              </a:ext>
                            </a:extLst>
                          </a:hlinkClick>
                        </a:rPr>
                        <a:t>grid-area</a:t>
                      </a:r>
                      <a:endParaRPr lang="en-US" dirty="0">
                        <a:solidFill>
                          <a:schemeClr val="tx2">
                            <a:lumMod val="60000"/>
                            <a:lumOff val="40000"/>
                          </a:schemeClr>
                        </a:solidFill>
                      </a:endParaRPr>
                    </a:p>
                  </a:txBody>
                  <a:tcPr marL="25484" marR="25484" marT="44693" marB="446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2000" b="0" dirty="0">
                          <a:solidFill>
                            <a:schemeClr val="bg1"/>
                          </a:solidFill>
                          <a:effectLst/>
                        </a:rPr>
                        <a:t>Defines the size and location of a grid item within a CSS grid layout by specifying the start and end lines.</a:t>
                      </a:r>
                    </a:p>
                  </a:txBody>
                  <a:tcPr marL="63710" marR="63710" marT="89194" marB="891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532264913"/>
                  </a:ext>
                </a:extLst>
              </a:tr>
              <a:tr h="605395">
                <a:tc>
                  <a:txBody>
                    <a:bodyPr/>
                    <a:lstStyle/>
                    <a:p>
                      <a:pPr algn="ctr" rtl="0" fontAlgn="base"/>
                      <a:r>
                        <a:rPr lang="en-US" dirty="0">
                          <a:solidFill>
                            <a:schemeClr val="tx2">
                              <a:lumMod val="60000"/>
                              <a:lumOff val="40000"/>
                            </a:schemeClr>
                          </a:solidFill>
                          <a:hlinkClick r:id="rId8">
                            <a:extLst>
                              <a:ext uri="{A12FA001-AC4F-418D-AE19-62706E023703}">
                                <ahyp:hlinkClr xmlns:ahyp="http://schemas.microsoft.com/office/drawing/2018/hyperlinkcolor" val="tx"/>
                              </a:ext>
                            </a:extLst>
                          </a:hlinkClick>
                        </a:rPr>
                        <a:t>grid-auto-columns</a:t>
                      </a:r>
                      <a:endParaRPr lang="en-US" dirty="0">
                        <a:solidFill>
                          <a:schemeClr val="tx2">
                            <a:lumMod val="60000"/>
                            <a:lumOff val="40000"/>
                          </a:schemeClr>
                        </a:solidFill>
                      </a:endParaRPr>
                    </a:p>
                  </a:txBody>
                  <a:tcPr marL="25484" marR="25484" marT="44693" marB="446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2000" b="0" dirty="0">
                          <a:solidFill>
                            <a:schemeClr val="bg1"/>
                          </a:solidFill>
                          <a:effectLst/>
                        </a:rPr>
                        <a:t>Sets the size of columns that are automatically generated in a CSS Grid layout when more content is added.</a:t>
                      </a:r>
                    </a:p>
                  </a:txBody>
                  <a:tcPr marL="63710" marR="63710" marT="89194" marB="891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1446071941"/>
                  </a:ext>
                </a:extLst>
              </a:tr>
              <a:tr h="427338">
                <a:tc>
                  <a:txBody>
                    <a:bodyPr/>
                    <a:lstStyle/>
                    <a:p>
                      <a:pPr algn="ctr" rtl="0" fontAlgn="base"/>
                      <a:r>
                        <a:rPr lang="en-US" dirty="0">
                          <a:solidFill>
                            <a:schemeClr val="tx2">
                              <a:lumMod val="60000"/>
                              <a:lumOff val="40000"/>
                            </a:schemeClr>
                          </a:solidFill>
                          <a:hlinkClick r:id="rId9">
                            <a:extLst>
                              <a:ext uri="{A12FA001-AC4F-418D-AE19-62706E023703}">
                                <ahyp:hlinkClr xmlns:ahyp="http://schemas.microsoft.com/office/drawing/2018/hyperlinkcolor" val="tx"/>
                              </a:ext>
                            </a:extLst>
                          </a:hlinkClick>
                        </a:rPr>
                        <a:t>grid-auto-flow</a:t>
                      </a:r>
                      <a:endParaRPr lang="en-US" dirty="0">
                        <a:solidFill>
                          <a:schemeClr val="tx2">
                            <a:lumMod val="60000"/>
                            <a:lumOff val="40000"/>
                          </a:schemeClr>
                        </a:solidFill>
                      </a:endParaRPr>
                    </a:p>
                  </a:txBody>
                  <a:tcPr marL="25484" marR="25484" marT="44693" marB="446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2000" b="0" dirty="0">
                          <a:solidFill>
                            <a:schemeClr val="bg1"/>
                          </a:solidFill>
                          <a:effectLst/>
                        </a:rPr>
                        <a:t>It specifies exactly how auto-placed items get flow into the grid.</a:t>
                      </a:r>
                    </a:p>
                  </a:txBody>
                  <a:tcPr marL="63710" marR="63710" marT="89194" marB="891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3670422291"/>
                  </a:ext>
                </a:extLst>
              </a:tr>
              <a:tr h="427338">
                <a:tc>
                  <a:txBody>
                    <a:bodyPr/>
                    <a:lstStyle/>
                    <a:p>
                      <a:pPr algn="ctr" rtl="0" fontAlgn="base"/>
                      <a:r>
                        <a:rPr lang="en-US" dirty="0">
                          <a:solidFill>
                            <a:schemeClr val="tx2">
                              <a:lumMod val="60000"/>
                              <a:lumOff val="40000"/>
                            </a:schemeClr>
                          </a:solidFill>
                          <a:hlinkClick r:id="rId10">
                            <a:extLst>
                              <a:ext uri="{A12FA001-AC4F-418D-AE19-62706E023703}">
                                <ahyp:hlinkClr xmlns:ahyp="http://schemas.microsoft.com/office/drawing/2018/hyperlinkcolor" val="tx"/>
                              </a:ext>
                            </a:extLst>
                          </a:hlinkClick>
                        </a:rPr>
                        <a:t>grid-auto-rows</a:t>
                      </a:r>
                      <a:endParaRPr lang="en-US" dirty="0">
                        <a:solidFill>
                          <a:schemeClr val="tx2">
                            <a:lumMod val="60000"/>
                            <a:lumOff val="40000"/>
                          </a:schemeClr>
                        </a:solidFill>
                      </a:endParaRPr>
                    </a:p>
                  </a:txBody>
                  <a:tcPr marL="25484" marR="25484" marT="44693" marB="446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2000" b="0" dirty="0">
                          <a:solidFill>
                            <a:schemeClr val="bg1"/>
                          </a:solidFill>
                          <a:effectLst/>
                        </a:rPr>
                        <a:t>It is used to specify the size for the rows of implicitly generated grid containers.</a:t>
                      </a:r>
                    </a:p>
                  </a:txBody>
                  <a:tcPr marL="63710" marR="63710" marT="89194" marB="891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1739157516"/>
                  </a:ext>
                </a:extLst>
              </a:tr>
              <a:tr h="605395">
                <a:tc>
                  <a:txBody>
                    <a:bodyPr/>
                    <a:lstStyle/>
                    <a:p>
                      <a:pPr algn="ctr" rtl="0" fontAlgn="base"/>
                      <a:r>
                        <a:rPr lang="en-US" dirty="0">
                          <a:solidFill>
                            <a:schemeClr val="tx2">
                              <a:lumMod val="60000"/>
                              <a:lumOff val="40000"/>
                            </a:schemeClr>
                          </a:solidFill>
                          <a:hlinkClick r:id="rId11">
                            <a:extLst>
                              <a:ext uri="{A12FA001-AC4F-418D-AE19-62706E023703}">
                                <ahyp:hlinkClr xmlns:ahyp="http://schemas.microsoft.com/office/drawing/2018/hyperlinkcolor" val="tx"/>
                              </a:ext>
                            </a:extLst>
                          </a:hlinkClick>
                        </a:rPr>
                        <a:t>grid-column</a:t>
                      </a:r>
                      <a:endParaRPr lang="en-US" dirty="0">
                        <a:solidFill>
                          <a:schemeClr val="tx2">
                            <a:lumMod val="60000"/>
                            <a:lumOff val="40000"/>
                          </a:schemeClr>
                        </a:solidFill>
                      </a:endParaRPr>
                    </a:p>
                  </a:txBody>
                  <a:tcPr marL="25484" marR="25484" marT="44693" marB="446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2000" b="0" dirty="0">
                          <a:solidFill>
                            <a:schemeClr val="bg1"/>
                          </a:solidFill>
                          <a:effectLst/>
                        </a:rPr>
                        <a:t>It describes the number of properties that allow to design of grid structures and control the placement of grid items using CSS.</a:t>
                      </a:r>
                    </a:p>
                  </a:txBody>
                  <a:tcPr marL="63710" marR="63710" marT="89194" marB="891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1053208718"/>
                  </a:ext>
                </a:extLst>
              </a:tr>
              <a:tr h="605395">
                <a:tc>
                  <a:txBody>
                    <a:bodyPr/>
                    <a:lstStyle/>
                    <a:p>
                      <a:pPr algn="ctr" rtl="0" fontAlgn="base"/>
                      <a:r>
                        <a:rPr lang="en-US" dirty="0">
                          <a:solidFill>
                            <a:schemeClr val="tx2">
                              <a:lumMod val="60000"/>
                              <a:lumOff val="40000"/>
                            </a:schemeClr>
                          </a:solidFill>
                          <a:hlinkClick r:id="rId12">
                            <a:extLst>
                              <a:ext uri="{A12FA001-AC4F-418D-AE19-62706E023703}">
                                <ahyp:hlinkClr xmlns:ahyp="http://schemas.microsoft.com/office/drawing/2018/hyperlinkcolor" val="tx"/>
                              </a:ext>
                            </a:extLst>
                          </a:hlinkClick>
                        </a:rPr>
                        <a:t>grid-column-end</a:t>
                      </a:r>
                      <a:endParaRPr lang="en-US" dirty="0">
                        <a:solidFill>
                          <a:schemeClr val="tx2">
                            <a:lumMod val="60000"/>
                            <a:lumOff val="40000"/>
                          </a:schemeClr>
                        </a:solidFill>
                      </a:endParaRPr>
                    </a:p>
                  </a:txBody>
                  <a:tcPr marL="25484" marR="25484" marT="44693" marB="446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2000" b="0" dirty="0">
                          <a:solidFill>
                            <a:schemeClr val="bg1"/>
                          </a:solidFill>
                          <a:effectLst/>
                        </a:rPr>
                        <a:t>It explains the number of columns an item will span, or on which column-line the item will end.</a:t>
                      </a:r>
                    </a:p>
                  </a:txBody>
                  <a:tcPr marL="63710" marR="63710" marT="89194" marB="891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2815293013"/>
                  </a:ext>
                </a:extLst>
              </a:tr>
              <a:tr h="427338">
                <a:tc>
                  <a:txBody>
                    <a:bodyPr/>
                    <a:lstStyle/>
                    <a:p>
                      <a:pPr algn="ctr" rtl="0" fontAlgn="base"/>
                      <a:r>
                        <a:rPr lang="en-US" dirty="0">
                          <a:solidFill>
                            <a:schemeClr val="tx2">
                              <a:lumMod val="60000"/>
                              <a:lumOff val="40000"/>
                            </a:schemeClr>
                          </a:solidFill>
                          <a:hlinkClick r:id="rId13">
                            <a:extLst>
                              <a:ext uri="{A12FA001-AC4F-418D-AE19-62706E023703}">
                                <ahyp:hlinkClr xmlns:ahyp="http://schemas.microsoft.com/office/drawing/2018/hyperlinkcolor" val="tx"/>
                              </a:ext>
                            </a:extLst>
                          </a:hlinkClick>
                        </a:rPr>
                        <a:t>grid-column-gap</a:t>
                      </a:r>
                      <a:endParaRPr lang="en-US" dirty="0">
                        <a:solidFill>
                          <a:schemeClr val="tx2">
                            <a:lumMod val="60000"/>
                            <a:lumOff val="40000"/>
                          </a:schemeClr>
                        </a:solidFill>
                      </a:endParaRPr>
                    </a:p>
                  </a:txBody>
                  <a:tcPr marL="25484" marR="25484" marT="44693" marB="446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2000" b="0" dirty="0">
                          <a:solidFill>
                            <a:schemeClr val="bg1"/>
                          </a:solidFill>
                          <a:effectLst/>
                        </a:rPr>
                        <a:t>It is used to set the size of the gap between the columns in a grid layout.</a:t>
                      </a:r>
                    </a:p>
                  </a:txBody>
                  <a:tcPr marL="63710" marR="63710" marT="89194" marB="891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2089343902"/>
                  </a:ext>
                </a:extLst>
              </a:tr>
              <a:tr h="427338">
                <a:tc>
                  <a:txBody>
                    <a:bodyPr/>
                    <a:lstStyle/>
                    <a:p>
                      <a:pPr algn="ctr" rtl="0" fontAlgn="base"/>
                      <a:r>
                        <a:rPr lang="en-US" dirty="0">
                          <a:solidFill>
                            <a:schemeClr val="tx2">
                              <a:lumMod val="60000"/>
                              <a:lumOff val="40000"/>
                            </a:schemeClr>
                          </a:solidFill>
                          <a:hlinkClick r:id="rId14">
                            <a:extLst>
                              <a:ext uri="{A12FA001-AC4F-418D-AE19-62706E023703}">
                                <ahyp:hlinkClr xmlns:ahyp="http://schemas.microsoft.com/office/drawing/2018/hyperlinkcolor" val="tx"/>
                              </a:ext>
                            </a:extLst>
                          </a:hlinkClick>
                        </a:rPr>
                        <a:t>grid-column-start</a:t>
                      </a:r>
                      <a:endParaRPr lang="en-US" dirty="0">
                        <a:solidFill>
                          <a:schemeClr val="tx2">
                            <a:lumMod val="60000"/>
                            <a:lumOff val="40000"/>
                          </a:schemeClr>
                        </a:solidFill>
                      </a:endParaRPr>
                    </a:p>
                  </a:txBody>
                  <a:tcPr marL="25484" marR="25484" marT="44693" marB="4469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2000" b="0" dirty="0">
                          <a:solidFill>
                            <a:schemeClr val="bg1"/>
                          </a:solidFill>
                          <a:effectLst/>
                        </a:rPr>
                        <a:t>It defines for which column line item will start.</a:t>
                      </a:r>
                    </a:p>
                  </a:txBody>
                  <a:tcPr marL="63710" marR="63710" marT="89194" marB="891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3492446668"/>
                  </a:ext>
                </a:extLst>
              </a:tr>
            </a:tbl>
          </a:graphicData>
        </a:graphic>
      </p:graphicFrame>
      <p:sp>
        <p:nvSpPr>
          <p:cNvPr id="17" name="TextBox 8">
            <a:extLst>
              <a:ext uri="{FF2B5EF4-FFF2-40B4-BE49-F238E27FC236}">
                <a16:creationId xmlns:a16="http://schemas.microsoft.com/office/drawing/2014/main" id="{BFE31CD6-99CC-592B-7D23-D0B2776E4578}"/>
              </a:ext>
            </a:extLst>
          </p:cNvPr>
          <p:cNvSpPr txBox="1"/>
          <p:nvPr/>
        </p:nvSpPr>
        <p:spPr>
          <a:xfrm>
            <a:off x="814322" y="723900"/>
            <a:ext cx="5330557" cy="3077766"/>
          </a:xfrm>
          <a:prstGeom prst="rect">
            <a:avLst/>
          </a:prstGeom>
        </p:spPr>
        <p:txBody>
          <a:bodyPr lIns="0" tIns="0" rIns="0" bIns="0" rtlCol="0" anchor="t">
            <a:spAutoFit/>
          </a:bodyPr>
          <a:lstStyle/>
          <a:p>
            <a:pPr>
              <a:lnSpc>
                <a:spcPts val="8039"/>
              </a:lnSpc>
            </a:pPr>
            <a:r>
              <a:rPr lang="en-US" sz="7114" b="1" dirty="0">
                <a:solidFill>
                  <a:srgbClr val="FFFFFF"/>
                </a:solidFill>
                <a:latin typeface="Glacial Indifference Bold"/>
                <a:ea typeface="Glacial Indifference Bold"/>
                <a:cs typeface="Glacial Indifference Bold"/>
                <a:sym typeface="Glacial Indifference Bold"/>
              </a:rPr>
              <a:t>CSS Grid Layout Properties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D99BA-B4AF-A2B6-2CCF-415F82E951F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814E-1774-0B7A-0EF3-32CAB5E9CE3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a:extLst>
              <a:ext uri="{FF2B5EF4-FFF2-40B4-BE49-F238E27FC236}">
                <a16:creationId xmlns:a16="http://schemas.microsoft.com/office/drawing/2014/main" id="{ACBD4AC6-05D9-4462-BF74-1E0C350BA045}"/>
              </a:ext>
            </a:extLst>
          </p:cNvPr>
          <p:cNvSpPr/>
          <p:nvPr/>
        </p:nvSpPr>
        <p:spPr>
          <a:xfrm rot="5400000" flipV="1">
            <a:off x="5887357" y="-2113643"/>
            <a:ext cx="10287000" cy="14514286"/>
          </a:xfrm>
          <a:custGeom>
            <a:avLst/>
            <a:gdLst/>
            <a:ahLst/>
            <a:cxnLst/>
            <a:rect l="l" t="t" r="r" b="b"/>
            <a:pathLst>
              <a:path w="10287000" h="14514286">
                <a:moveTo>
                  <a:pt x="0" y="14514286"/>
                </a:moveTo>
                <a:lnTo>
                  <a:pt x="10287000" y="14514286"/>
                </a:lnTo>
                <a:lnTo>
                  <a:pt x="10287000" y="0"/>
                </a:lnTo>
                <a:lnTo>
                  <a:pt x="0" y="0"/>
                </a:lnTo>
                <a:lnTo>
                  <a:pt x="0" y="14514286"/>
                </a:lnTo>
                <a:close/>
              </a:path>
            </a:pathLst>
          </a:custGeom>
          <a:blipFill>
            <a:blip r:embed="rId3"/>
            <a:stretch>
              <a:fillRect/>
            </a:stretch>
          </a:blipFill>
        </p:spPr>
      </p:sp>
      <p:sp>
        <p:nvSpPr>
          <p:cNvPr id="8" name="TextBox 8">
            <a:extLst>
              <a:ext uri="{FF2B5EF4-FFF2-40B4-BE49-F238E27FC236}">
                <a16:creationId xmlns:a16="http://schemas.microsoft.com/office/drawing/2014/main" id="{C2FA2E48-9986-ED97-54A2-837542CBFB52}"/>
              </a:ext>
            </a:extLst>
          </p:cNvPr>
          <p:cNvSpPr txBox="1"/>
          <p:nvPr/>
        </p:nvSpPr>
        <p:spPr>
          <a:xfrm>
            <a:off x="814322" y="723900"/>
            <a:ext cx="5330557" cy="3077766"/>
          </a:xfrm>
          <a:prstGeom prst="rect">
            <a:avLst/>
          </a:prstGeom>
        </p:spPr>
        <p:txBody>
          <a:bodyPr lIns="0" tIns="0" rIns="0" bIns="0" rtlCol="0" anchor="t">
            <a:spAutoFit/>
          </a:bodyPr>
          <a:lstStyle/>
          <a:p>
            <a:pPr>
              <a:lnSpc>
                <a:spcPts val="8039"/>
              </a:lnSpc>
            </a:pPr>
            <a:r>
              <a:rPr lang="en-US" sz="7114" b="1" dirty="0">
                <a:solidFill>
                  <a:srgbClr val="FFFFFF"/>
                </a:solidFill>
                <a:latin typeface="Glacial Indifference Bold"/>
                <a:ea typeface="Glacial Indifference Bold"/>
                <a:cs typeface="Glacial Indifference Bold"/>
                <a:sym typeface="Glacial Indifference Bold"/>
              </a:rPr>
              <a:t>CSS Grid Layout Properties</a:t>
            </a:r>
          </a:p>
        </p:txBody>
      </p:sp>
      <p:graphicFrame>
        <p:nvGraphicFramePr>
          <p:cNvPr id="4" name="Table 3">
            <a:extLst>
              <a:ext uri="{FF2B5EF4-FFF2-40B4-BE49-F238E27FC236}">
                <a16:creationId xmlns:a16="http://schemas.microsoft.com/office/drawing/2014/main" id="{9D570D23-E793-98BB-87FF-53CF2B67C8DA}"/>
              </a:ext>
            </a:extLst>
          </p:cNvPr>
          <p:cNvGraphicFramePr>
            <a:graphicFrameLocks noGrp="1"/>
          </p:cNvGraphicFramePr>
          <p:nvPr>
            <p:extLst>
              <p:ext uri="{D42A27DB-BD31-4B8C-83A1-F6EECF244321}">
                <p14:modId xmlns:p14="http://schemas.microsoft.com/office/powerpoint/2010/main" val="902851173"/>
              </p:ext>
            </p:extLst>
          </p:nvPr>
        </p:nvGraphicFramePr>
        <p:xfrm>
          <a:off x="6324600" y="1982636"/>
          <a:ext cx="10485373" cy="5966460"/>
        </p:xfrm>
        <a:graphic>
          <a:graphicData uri="http://schemas.openxmlformats.org/drawingml/2006/table">
            <a:tbl>
              <a:tblPr/>
              <a:tblGrid>
                <a:gridCol w="3355319">
                  <a:extLst>
                    <a:ext uri="{9D8B030D-6E8A-4147-A177-3AD203B41FA5}">
                      <a16:colId xmlns:a16="http://schemas.microsoft.com/office/drawing/2014/main" val="3244236092"/>
                    </a:ext>
                  </a:extLst>
                </a:gridCol>
                <a:gridCol w="7130054">
                  <a:extLst>
                    <a:ext uri="{9D8B030D-6E8A-4147-A177-3AD203B41FA5}">
                      <a16:colId xmlns:a16="http://schemas.microsoft.com/office/drawing/2014/main" val="2704468411"/>
                    </a:ext>
                  </a:extLst>
                </a:gridCol>
              </a:tblGrid>
              <a:tr h="0">
                <a:tc>
                  <a:txBody>
                    <a:bodyPr/>
                    <a:lstStyle/>
                    <a:p>
                      <a:pPr algn="ctr" rtl="0" fontAlgn="base"/>
                      <a:r>
                        <a:rPr lang="en-US" sz="1800" b="1" u="sng" dirty="0">
                          <a:solidFill>
                            <a:schemeClr val="tx2">
                              <a:lumMod val="60000"/>
                              <a:lumOff val="40000"/>
                            </a:schemeClr>
                          </a:solidFill>
                          <a:effectLst/>
                          <a:hlinkClick r:id="rId4">
                            <a:extLst>
                              <a:ext uri="{A12FA001-AC4F-418D-AE19-62706E023703}">
                                <ahyp:hlinkClr xmlns:ahyp="http://schemas.microsoft.com/office/drawing/2018/hyperlinkcolor" val="tx"/>
                              </a:ext>
                            </a:extLst>
                          </a:hlinkClick>
                        </a:rPr>
                        <a:t>grid-gap</a:t>
                      </a:r>
                      <a:endParaRPr lang="en-US" sz="1800" b="1" dirty="0">
                        <a:solidFill>
                          <a:schemeClr val="tx2">
                            <a:lumMod val="60000"/>
                            <a:lumOff val="40000"/>
                          </a:schemeClr>
                        </a:solidFill>
                        <a:effectLst/>
                      </a:endParaRPr>
                    </a:p>
                  </a:txBody>
                  <a:tcPr marL="38100" marR="38100" marT="66818" marB="6681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1800" b="0" dirty="0">
                          <a:solidFill>
                            <a:schemeClr val="bg1"/>
                          </a:solidFill>
                          <a:effectLst/>
                        </a:rPr>
                        <a:t>It is used to sets the size of the gap between the rows and columns in a grid layout.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3067014626"/>
                  </a:ext>
                </a:extLst>
              </a:tr>
              <a:tr h="0">
                <a:tc>
                  <a:txBody>
                    <a:bodyPr/>
                    <a:lstStyle/>
                    <a:p>
                      <a:pPr algn="ctr" rtl="0" fontAlgn="base"/>
                      <a:r>
                        <a:rPr lang="en-US" sz="1800" b="1" u="sng" dirty="0">
                          <a:solidFill>
                            <a:schemeClr val="tx2">
                              <a:lumMod val="60000"/>
                              <a:lumOff val="40000"/>
                            </a:schemeClr>
                          </a:solidFill>
                          <a:effectLst/>
                          <a:hlinkClick r:id="rId5">
                            <a:extLst>
                              <a:ext uri="{A12FA001-AC4F-418D-AE19-62706E023703}">
                                <ahyp:hlinkClr xmlns:ahyp="http://schemas.microsoft.com/office/drawing/2018/hyperlinkcolor" val="tx"/>
                              </a:ext>
                            </a:extLst>
                          </a:hlinkClick>
                        </a:rPr>
                        <a:t>grid-row</a:t>
                      </a:r>
                      <a:endParaRPr lang="en-US" sz="1800" b="1" dirty="0">
                        <a:solidFill>
                          <a:schemeClr val="tx2">
                            <a:lumMod val="60000"/>
                            <a:lumOff val="40000"/>
                          </a:schemeClr>
                        </a:solidFill>
                        <a:effectLst/>
                      </a:endParaRPr>
                    </a:p>
                  </a:txBody>
                  <a:tcPr marL="38100" marR="38100" marT="66818" marB="6681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1800" b="0" dirty="0">
                          <a:solidFill>
                            <a:schemeClr val="bg1"/>
                          </a:solidFill>
                          <a:effectLst/>
                        </a:rPr>
                        <a:t>It is used to specify the size and location in a grid layout.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3698295114"/>
                  </a:ext>
                </a:extLst>
              </a:tr>
              <a:tr h="0">
                <a:tc>
                  <a:txBody>
                    <a:bodyPr/>
                    <a:lstStyle/>
                    <a:p>
                      <a:pPr algn="ctr" rtl="0" fontAlgn="base"/>
                      <a:r>
                        <a:rPr lang="en-US" sz="1800" b="1" u="sng" dirty="0">
                          <a:solidFill>
                            <a:schemeClr val="tx2">
                              <a:lumMod val="60000"/>
                              <a:lumOff val="40000"/>
                            </a:schemeClr>
                          </a:solidFill>
                          <a:effectLst/>
                          <a:hlinkClick r:id="rId6">
                            <a:extLst>
                              <a:ext uri="{A12FA001-AC4F-418D-AE19-62706E023703}">
                                <ahyp:hlinkClr xmlns:ahyp="http://schemas.microsoft.com/office/drawing/2018/hyperlinkcolor" val="tx"/>
                              </a:ext>
                            </a:extLst>
                          </a:hlinkClick>
                        </a:rPr>
                        <a:t>grid-row-end</a:t>
                      </a:r>
                      <a:endParaRPr lang="en-US" sz="1800" b="1" dirty="0">
                        <a:solidFill>
                          <a:schemeClr val="tx2">
                            <a:lumMod val="60000"/>
                            <a:lumOff val="40000"/>
                          </a:schemeClr>
                        </a:solidFill>
                        <a:effectLst/>
                      </a:endParaRPr>
                    </a:p>
                  </a:txBody>
                  <a:tcPr marL="38100" marR="38100" marT="66818" marB="6681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1800" b="0" dirty="0">
                          <a:solidFill>
                            <a:schemeClr val="bg1"/>
                          </a:solidFill>
                          <a:effectLst/>
                        </a:rPr>
                        <a:t>It is used to define the grid item's end position within a grid row by specifying the inline edge of its grid area.</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969902927"/>
                  </a:ext>
                </a:extLst>
              </a:tr>
              <a:tr h="0">
                <a:tc>
                  <a:txBody>
                    <a:bodyPr/>
                    <a:lstStyle/>
                    <a:p>
                      <a:pPr algn="ctr" rtl="0" fontAlgn="base"/>
                      <a:r>
                        <a:rPr lang="en-US" sz="1800" b="1" u="sng" dirty="0">
                          <a:solidFill>
                            <a:schemeClr val="tx2">
                              <a:lumMod val="60000"/>
                              <a:lumOff val="40000"/>
                            </a:schemeClr>
                          </a:solidFill>
                          <a:effectLst/>
                          <a:hlinkClick r:id="rId7">
                            <a:extLst>
                              <a:ext uri="{A12FA001-AC4F-418D-AE19-62706E023703}">
                                <ahyp:hlinkClr xmlns:ahyp="http://schemas.microsoft.com/office/drawing/2018/hyperlinkcolor" val="tx"/>
                              </a:ext>
                            </a:extLst>
                          </a:hlinkClick>
                        </a:rPr>
                        <a:t>grid-row-gap</a:t>
                      </a:r>
                      <a:endParaRPr lang="en-US" sz="1800" b="1" dirty="0">
                        <a:solidFill>
                          <a:schemeClr val="tx2">
                            <a:lumMod val="60000"/>
                            <a:lumOff val="40000"/>
                          </a:schemeClr>
                        </a:solidFill>
                        <a:effectLst/>
                      </a:endParaRPr>
                    </a:p>
                  </a:txBody>
                  <a:tcPr marL="38100" marR="38100" marT="66818" marB="6681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1800" b="0" dirty="0">
                          <a:solidFill>
                            <a:schemeClr val="bg1"/>
                          </a:solidFill>
                          <a:effectLst/>
                        </a:rPr>
                        <a:t>It is used to define the size of the gap between the grid elements.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1735906890"/>
                  </a:ext>
                </a:extLst>
              </a:tr>
              <a:tr h="0">
                <a:tc>
                  <a:txBody>
                    <a:bodyPr/>
                    <a:lstStyle/>
                    <a:p>
                      <a:pPr algn="ctr" rtl="0" fontAlgn="base"/>
                      <a:r>
                        <a:rPr lang="en-US" sz="1800" b="1" u="sng" dirty="0">
                          <a:solidFill>
                            <a:schemeClr val="tx2">
                              <a:lumMod val="60000"/>
                              <a:lumOff val="40000"/>
                            </a:schemeClr>
                          </a:solidFill>
                          <a:effectLst/>
                          <a:hlinkClick r:id="rId8">
                            <a:extLst>
                              <a:ext uri="{A12FA001-AC4F-418D-AE19-62706E023703}">
                                <ahyp:hlinkClr xmlns:ahyp="http://schemas.microsoft.com/office/drawing/2018/hyperlinkcolor" val="tx"/>
                              </a:ext>
                            </a:extLst>
                          </a:hlinkClick>
                        </a:rPr>
                        <a:t>grid-row-start</a:t>
                      </a:r>
                      <a:endParaRPr lang="en-US" sz="1800" b="1" dirty="0">
                        <a:solidFill>
                          <a:schemeClr val="tx2">
                            <a:lumMod val="60000"/>
                            <a:lumOff val="40000"/>
                          </a:schemeClr>
                        </a:solidFill>
                        <a:effectLst/>
                      </a:endParaRPr>
                    </a:p>
                  </a:txBody>
                  <a:tcPr marL="38100" marR="38100" marT="66818" marB="6681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1800" b="0" dirty="0">
                          <a:solidFill>
                            <a:schemeClr val="bg1"/>
                          </a:solidFill>
                          <a:effectLst/>
                        </a:rPr>
                        <a:t>It is used to define the grid items' start position within the grid row by specifying the inline start edge of its grid area.</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3652241483"/>
                  </a:ext>
                </a:extLst>
              </a:tr>
              <a:tr h="0">
                <a:tc>
                  <a:txBody>
                    <a:bodyPr/>
                    <a:lstStyle/>
                    <a:p>
                      <a:pPr algn="ctr" rtl="0" fontAlgn="base"/>
                      <a:r>
                        <a:rPr lang="en-US" sz="1800" b="1" u="sng" dirty="0">
                          <a:solidFill>
                            <a:schemeClr val="tx2">
                              <a:lumMod val="60000"/>
                              <a:lumOff val="40000"/>
                            </a:schemeClr>
                          </a:solidFill>
                          <a:effectLst/>
                          <a:hlinkClick r:id="rId9">
                            <a:extLst>
                              <a:ext uri="{A12FA001-AC4F-418D-AE19-62706E023703}">
                                <ahyp:hlinkClr xmlns:ahyp="http://schemas.microsoft.com/office/drawing/2018/hyperlinkcolor" val="tx"/>
                              </a:ext>
                            </a:extLst>
                          </a:hlinkClick>
                        </a:rPr>
                        <a:t>grid-template</a:t>
                      </a:r>
                      <a:endParaRPr lang="en-US" sz="1800" b="1" dirty="0">
                        <a:solidFill>
                          <a:schemeClr val="tx2">
                            <a:lumMod val="60000"/>
                            <a:lumOff val="40000"/>
                          </a:schemeClr>
                        </a:solidFill>
                        <a:effectLst/>
                      </a:endParaRPr>
                    </a:p>
                  </a:txBody>
                  <a:tcPr marL="38100" marR="38100" marT="66818" marB="6681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1800" b="0" dirty="0">
                          <a:solidFill>
                            <a:schemeClr val="bg1"/>
                          </a:solidFill>
                          <a:effectLst/>
                        </a:rPr>
                        <a:t>It is a </a:t>
                      </a:r>
                      <a:r>
                        <a:rPr lang="en-US" sz="1800" b="0" u="sng" dirty="0">
                          <a:solidFill>
                            <a:schemeClr val="bg1"/>
                          </a:solidFill>
                          <a:effectLst/>
                          <a:hlinkClick r:id="rId10">
                            <a:extLst>
                              <a:ext uri="{A12FA001-AC4F-418D-AE19-62706E023703}">
                                <ahyp:hlinkClr xmlns:ahyp="http://schemas.microsoft.com/office/drawing/2018/hyperlinkcolor" val="tx"/>
                              </a:ext>
                            </a:extLst>
                          </a:hlinkClick>
                        </a:rPr>
                        <a:t>shorthand property</a:t>
                      </a:r>
                      <a:r>
                        <a:rPr lang="en-US" sz="1800" b="0" dirty="0">
                          <a:solidFill>
                            <a:schemeClr val="bg1"/>
                          </a:solidFill>
                          <a:effectLst/>
                        </a:rPr>
                        <a:t> for defining grid columns, rows, and areas.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148320262"/>
                  </a:ext>
                </a:extLst>
              </a:tr>
              <a:tr h="0">
                <a:tc>
                  <a:txBody>
                    <a:bodyPr/>
                    <a:lstStyle/>
                    <a:p>
                      <a:pPr algn="ctr" rtl="0" fontAlgn="base"/>
                      <a:r>
                        <a:rPr lang="en-US" sz="1800" b="1" u="sng" dirty="0">
                          <a:solidFill>
                            <a:schemeClr val="tx2">
                              <a:lumMod val="60000"/>
                              <a:lumOff val="40000"/>
                            </a:schemeClr>
                          </a:solidFill>
                          <a:effectLst/>
                          <a:hlinkClick r:id="rId11">
                            <a:extLst>
                              <a:ext uri="{A12FA001-AC4F-418D-AE19-62706E023703}">
                                <ahyp:hlinkClr xmlns:ahyp="http://schemas.microsoft.com/office/drawing/2018/hyperlinkcolor" val="tx"/>
                              </a:ext>
                            </a:extLst>
                          </a:hlinkClick>
                        </a:rPr>
                        <a:t>grid-template-areas</a:t>
                      </a:r>
                      <a:endParaRPr lang="en-US" sz="1800" b="1" dirty="0">
                        <a:solidFill>
                          <a:schemeClr val="tx2">
                            <a:lumMod val="60000"/>
                            <a:lumOff val="40000"/>
                          </a:schemeClr>
                        </a:solidFill>
                        <a:effectLst/>
                      </a:endParaRPr>
                    </a:p>
                  </a:txBody>
                  <a:tcPr marL="38100" marR="38100" marT="66818" marB="6681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1800" b="0" dirty="0">
                          <a:solidFill>
                            <a:schemeClr val="bg1"/>
                          </a:solidFill>
                          <a:effectLst/>
                        </a:rPr>
                        <a:t>It is used to specify the area within the grid layout.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739532066"/>
                  </a:ext>
                </a:extLst>
              </a:tr>
              <a:tr h="0">
                <a:tc>
                  <a:txBody>
                    <a:bodyPr/>
                    <a:lstStyle/>
                    <a:p>
                      <a:pPr algn="ctr" rtl="0" fontAlgn="base"/>
                      <a:r>
                        <a:rPr lang="en-US" sz="1800" b="1" u="sng" dirty="0">
                          <a:solidFill>
                            <a:schemeClr val="tx2">
                              <a:lumMod val="60000"/>
                              <a:lumOff val="40000"/>
                            </a:schemeClr>
                          </a:solidFill>
                          <a:effectLst/>
                          <a:hlinkClick r:id="rId12">
                            <a:extLst>
                              <a:ext uri="{A12FA001-AC4F-418D-AE19-62706E023703}">
                                <ahyp:hlinkClr xmlns:ahyp="http://schemas.microsoft.com/office/drawing/2018/hyperlinkcolor" val="tx"/>
                              </a:ext>
                            </a:extLst>
                          </a:hlinkClick>
                        </a:rPr>
                        <a:t>grid-template-columns</a:t>
                      </a:r>
                      <a:endParaRPr lang="en-US" sz="1800" b="1" dirty="0">
                        <a:solidFill>
                          <a:schemeClr val="tx2">
                            <a:lumMod val="60000"/>
                            <a:lumOff val="40000"/>
                          </a:schemeClr>
                        </a:solidFill>
                        <a:effectLst/>
                      </a:endParaRPr>
                    </a:p>
                  </a:txBody>
                  <a:tcPr marL="38100" marR="38100" marT="66818" marB="6681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1800" b="0" dirty="0">
                          <a:solidFill>
                            <a:schemeClr val="bg1"/>
                          </a:solidFill>
                          <a:effectLst/>
                        </a:rPr>
                        <a:t>It is used to set the number of columns and size of the columns of the grid.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2374456415"/>
                  </a:ext>
                </a:extLst>
              </a:tr>
              <a:tr h="0">
                <a:tc>
                  <a:txBody>
                    <a:bodyPr/>
                    <a:lstStyle/>
                    <a:p>
                      <a:pPr algn="ctr" rtl="0" fontAlgn="base"/>
                      <a:r>
                        <a:rPr lang="en-US" sz="1800" b="1" u="sng" dirty="0">
                          <a:solidFill>
                            <a:schemeClr val="tx2">
                              <a:lumMod val="60000"/>
                              <a:lumOff val="40000"/>
                            </a:schemeClr>
                          </a:solidFill>
                          <a:effectLst/>
                          <a:hlinkClick r:id="rId13">
                            <a:extLst>
                              <a:ext uri="{A12FA001-AC4F-418D-AE19-62706E023703}">
                                <ahyp:hlinkClr xmlns:ahyp="http://schemas.microsoft.com/office/drawing/2018/hyperlinkcolor" val="tx"/>
                              </a:ext>
                            </a:extLst>
                          </a:hlinkClick>
                        </a:rPr>
                        <a:t>grid-template-rows</a:t>
                      </a:r>
                      <a:endParaRPr lang="en-US" sz="1800" b="1" dirty="0">
                        <a:solidFill>
                          <a:schemeClr val="tx2">
                            <a:lumMod val="60000"/>
                            <a:lumOff val="40000"/>
                          </a:schemeClr>
                        </a:solidFill>
                        <a:effectLst/>
                      </a:endParaRPr>
                    </a:p>
                  </a:txBody>
                  <a:tcPr marL="38100" marR="38100" marT="66818" marB="6681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2A2A2C"/>
                    </a:solidFill>
                  </a:tcPr>
                </a:tc>
                <a:tc>
                  <a:txBody>
                    <a:bodyPr/>
                    <a:lstStyle/>
                    <a:p>
                      <a:pPr algn="ctr" rtl="0" fontAlgn="base"/>
                      <a:r>
                        <a:rPr lang="en-US" sz="1800" b="0" dirty="0">
                          <a:solidFill>
                            <a:schemeClr val="bg1"/>
                          </a:solidFill>
                          <a:effectLst/>
                        </a:rPr>
                        <a:t>It is used to set the number of rows and height of the rows in a grid.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131417"/>
                    </a:solidFill>
                  </a:tcPr>
                </a:tc>
                <a:extLst>
                  <a:ext uri="{0D108BD9-81ED-4DB2-BD59-A6C34878D82A}">
                    <a16:rowId xmlns:a16="http://schemas.microsoft.com/office/drawing/2014/main" val="776174067"/>
                  </a:ext>
                </a:extLst>
              </a:tr>
            </a:tbl>
          </a:graphicData>
        </a:graphic>
      </p:graphicFrame>
    </p:spTree>
    <p:extLst>
      <p:ext uri="{BB962C8B-B14F-4D97-AF65-F5344CB8AC3E}">
        <p14:creationId xmlns:p14="http://schemas.microsoft.com/office/powerpoint/2010/main" val="4025911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a:off x="0" y="0"/>
            <a:ext cx="18287999" cy="10287000"/>
          </a:xfrm>
          <a:custGeom>
            <a:avLst/>
            <a:gdLst/>
            <a:ahLst/>
            <a:cxnLst/>
            <a:rect l="l" t="t" r="r" b="b"/>
            <a:pathLst>
              <a:path w="17024727" h="10737964">
                <a:moveTo>
                  <a:pt x="0" y="0"/>
                </a:moveTo>
                <a:lnTo>
                  <a:pt x="17024726" y="0"/>
                </a:lnTo>
                <a:lnTo>
                  <a:pt x="17024726" y="10737964"/>
                </a:lnTo>
                <a:lnTo>
                  <a:pt x="0" y="10737964"/>
                </a:lnTo>
                <a:lnTo>
                  <a:pt x="0" y="0"/>
                </a:lnTo>
                <a:close/>
              </a:path>
            </a:pathLst>
          </a:custGeom>
          <a:blipFill>
            <a:blip r:embed="rId3"/>
            <a:stretch>
              <a:fillRect t="-123699"/>
            </a:stretch>
          </a:blipFill>
        </p:spPr>
        <p:txBody>
          <a:bodyPr/>
          <a:lstStyle/>
          <a:p>
            <a:endParaRPr lang="en-US" dirty="0"/>
          </a:p>
        </p:txBody>
      </p:sp>
      <p:sp>
        <p:nvSpPr>
          <p:cNvPr id="9" name="TextBox 8">
            <a:extLst>
              <a:ext uri="{FF2B5EF4-FFF2-40B4-BE49-F238E27FC236}">
                <a16:creationId xmlns:a16="http://schemas.microsoft.com/office/drawing/2014/main" id="{68BA805B-ADCB-B30E-1959-FA921E258CDC}"/>
              </a:ext>
            </a:extLst>
          </p:cNvPr>
          <p:cNvSpPr txBox="1"/>
          <p:nvPr/>
        </p:nvSpPr>
        <p:spPr>
          <a:xfrm>
            <a:off x="814322" y="723900"/>
            <a:ext cx="15187678" cy="1987724"/>
          </a:xfrm>
          <a:prstGeom prst="rect">
            <a:avLst/>
          </a:prstGeom>
        </p:spPr>
        <p:txBody>
          <a:bodyPr wrap="square" lIns="0" tIns="0" rIns="0" bIns="0" rtlCol="0" anchor="t">
            <a:spAutoFit/>
          </a:bodyPr>
          <a:lstStyle/>
          <a:p>
            <a:pPr>
              <a:lnSpc>
                <a:spcPts val="8039"/>
              </a:lnSpc>
            </a:pPr>
            <a:r>
              <a:rPr lang="en-US" sz="5400" b="1" dirty="0">
                <a:solidFill>
                  <a:srgbClr val="FFFFFF"/>
                </a:solidFill>
                <a:latin typeface="Glacial Indifference Bold"/>
                <a:ea typeface="Glacial Indifference Bold"/>
                <a:cs typeface="Glacial Indifference Bold"/>
                <a:sym typeface="Glacial Indifference Bold"/>
              </a:rPr>
              <a:t>Example 1 : </a:t>
            </a:r>
            <a:r>
              <a:rPr lang="en-US" sz="5400" b="1" i="0" dirty="0">
                <a:solidFill>
                  <a:srgbClr val="FFFFFF"/>
                </a:solidFill>
                <a:effectLst/>
                <a:latin typeface="Nunito" pitchFamily="2" charset="77"/>
              </a:rPr>
              <a:t>Three-Column Layout</a:t>
            </a:r>
          </a:p>
          <a:p>
            <a:pPr>
              <a:lnSpc>
                <a:spcPts val="8039"/>
              </a:lnSpc>
            </a:pPr>
            <a:endParaRPr lang="en-US" sz="5400" b="1" dirty="0">
              <a:solidFill>
                <a:srgbClr val="FFFFFF"/>
              </a:solidFill>
              <a:latin typeface="Glacial Indifference Bold"/>
              <a:ea typeface="Glacial Indifference Bold"/>
              <a:cs typeface="Glacial Indifference Bold"/>
              <a:sym typeface="Glacial Indifference Bold"/>
            </a:endParaRPr>
          </a:p>
        </p:txBody>
      </p:sp>
      <p:sp>
        <p:nvSpPr>
          <p:cNvPr id="11" name="TextBox 10">
            <a:extLst>
              <a:ext uri="{FF2B5EF4-FFF2-40B4-BE49-F238E27FC236}">
                <a16:creationId xmlns:a16="http://schemas.microsoft.com/office/drawing/2014/main" id="{B8040462-110B-CD3B-2A69-BEA8E26C8F3D}"/>
              </a:ext>
            </a:extLst>
          </p:cNvPr>
          <p:cNvSpPr txBox="1"/>
          <p:nvPr/>
        </p:nvSpPr>
        <p:spPr>
          <a:xfrm>
            <a:off x="781091" y="4300121"/>
            <a:ext cx="9144000" cy="5262979"/>
          </a:xfrm>
          <a:prstGeom prst="rect">
            <a:avLst/>
          </a:prstGeom>
          <a:noFill/>
        </p:spPr>
        <p:txBody>
          <a:bodyPr wrap="square">
            <a:spAutoFit/>
          </a:bodyPr>
          <a:lstStyle/>
          <a:p>
            <a:r>
              <a:rPr lang="en-US" sz="2800" b="0" dirty="0">
                <a:solidFill>
                  <a:srgbClr val="D7BA7D"/>
                </a:solidFill>
                <a:effectLst/>
                <a:latin typeface="Menlo" panose="020B0609030804020204" pitchFamily="49" charset="0"/>
              </a:rPr>
              <a:t>.grid-container</a:t>
            </a:r>
            <a:r>
              <a:rPr lang="en-US" sz="2800" b="0" dirty="0">
                <a:solidFill>
                  <a:srgbClr val="D4D4D4"/>
                </a:solidFill>
                <a:effectLst/>
                <a:latin typeface="Menlo" panose="020B0609030804020204" pitchFamily="49" charset="0"/>
              </a:rPr>
              <a:t> {</a:t>
            </a:r>
          </a:p>
          <a:p>
            <a:r>
              <a:rPr lang="en-US" sz="2800" b="0" dirty="0">
                <a:solidFill>
                  <a:srgbClr val="9CDCFE"/>
                </a:solidFill>
                <a:effectLst/>
                <a:latin typeface="Menlo" panose="020B0609030804020204" pitchFamily="49" charset="0"/>
              </a:rPr>
              <a:t>display</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grid</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grid-template-columns</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1fr</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1fr</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1fr</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gap</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10px</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br>
              <a:rPr lang="en-US" sz="2800" b="0" dirty="0">
                <a:solidFill>
                  <a:srgbClr val="CCCCCC"/>
                </a:solidFill>
                <a:effectLst/>
                <a:latin typeface="Menlo" panose="020B0609030804020204" pitchFamily="49" charset="0"/>
              </a:rPr>
            </a:br>
            <a:r>
              <a:rPr lang="en-US" sz="2800" b="0" dirty="0">
                <a:solidFill>
                  <a:srgbClr val="D7BA7D"/>
                </a:solidFill>
                <a:effectLst/>
                <a:latin typeface="Menlo" panose="020B0609030804020204" pitchFamily="49" charset="0"/>
              </a:rPr>
              <a:t>.grid-item</a:t>
            </a:r>
            <a:r>
              <a:rPr lang="en-US" sz="2800" b="0" dirty="0">
                <a:solidFill>
                  <a:srgbClr val="D4D4D4"/>
                </a:solidFill>
                <a:effectLst/>
                <a:latin typeface="Menlo" panose="020B0609030804020204" pitchFamily="49" charset="0"/>
              </a:rPr>
              <a:t> {</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background-color</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#f0f0f0</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padding</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20px</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text-align</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center</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outline</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1px</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solid</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red</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p:txBody>
      </p:sp>
      <p:sp>
        <p:nvSpPr>
          <p:cNvPr id="13" name="Rectangle 12">
            <a:extLst>
              <a:ext uri="{FF2B5EF4-FFF2-40B4-BE49-F238E27FC236}">
                <a16:creationId xmlns:a16="http://schemas.microsoft.com/office/drawing/2014/main" id="{B8381465-6EFC-990C-D595-D135DB36EA8E}"/>
              </a:ext>
            </a:extLst>
          </p:cNvPr>
          <p:cNvSpPr/>
          <p:nvPr/>
        </p:nvSpPr>
        <p:spPr>
          <a:xfrm>
            <a:off x="9448800" y="2021889"/>
            <a:ext cx="7696200" cy="69342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62CA97-9770-4F41-28EB-4F1605BC2AC1}"/>
              </a:ext>
            </a:extLst>
          </p:cNvPr>
          <p:cNvSpPr/>
          <p:nvPr/>
        </p:nvSpPr>
        <p:spPr>
          <a:xfrm>
            <a:off x="9731967" y="2400300"/>
            <a:ext cx="2117214" cy="1907589"/>
          </a:xfrm>
          <a:prstGeom prst="rect">
            <a:avLst/>
          </a:prstGeom>
          <a:solidFill>
            <a:schemeClr val="bg1"/>
          </a:solid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Col 1</a:t>
            </a:r>
          </a:p>
        </p:txBody>
      </p:sp>
      <p:sp>
        <p:nvSpPr>
          <p:cNvPr id="16" name="Rectangle 15">
            <a:extLst>
              <a:ext uri="{FF2B5EF4-FFF2-40B4-BE49-F238E27FC236}">
                <a16:creationId xmlns:a16="http://schemas.microsoft.com/office/drawing/2014/main" id="{CB095D48-775D-B30D-4D7D-2A25917403EA}"/>
              </a:ext>
            </a:extLst>
          </p:cNvPr>
          <p:cNvSpPr/>
          <p:nvPr/>
        </p:nvSpPr>
        <p:spPr>
          <a:xfrm>
            <a:off x="14792465" y="2413907"/>
            <a:ext cx="2117214" cy="1907589"/>
          </a:xfrm>
          <a:prstGeom prst="rect">
            <a:avLst/>
          </a:prstGeom>
          <a:solidFill>
            <a:schemeClr val="bg1"/>
          </a:solid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Col 3</a:t>
            </a:r>
          </a:p>
        </p:txBody>
      </p:sp>
      <p:sp>
        <p:nvSpPr>
          <p:cNvPr id="17" name="Rectangle 16">
            <a:extLst>
              <a:ext uri="{FF2B5EF4-FFF2-40B4-BE49-F238E27FC236}">
                <a16:creationId xmlns:a16="http://schemas.microsoft.com/office/drawing/2014/main" id="{D838994D-FF0C-EC25-7752-DBC6F3184D3F}"/>
              </a:ext>
            </a:extLst>
          </p:cNvPr>
          <p:cNvSpPr/>
          <p:nvPr/>
        </p:nvSpPr>
        <p:spPr>
          <a:xfrm>
            <a:off x="12262216" y="2419350"/>
            <a:ext cx="2117214" cy="1907589"/>
          </a:xfrm>
          <a:prstGeom prst="rect">
            <a:avLst/>
          </a:prstGeom>
          <a:solidFill>
            <a:schemeClr val="bg1"/>
          </a:solid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Col 2</a:t>
            </a:r>
          </a:p>
        </p:txBody>
      </p:sp>
      <p:sp>
        <p:nvSpPr>
          <p:cNvPr id="18" name="TextBox 6">
            <a:extLst>
              <a:ext uri="{FF2B5EF4-FFF2-40B4-BE49-F238E27FC236}">
                <a16:creationId xmlns:a16="http://schemas.microsoft.com/office/drawing/2014/main" id="{F54C5DBD-0518-F23B-3454-096EAB0BB8B1}"/>
              </a:ext>
            </a:extLst>
          </p:cNvPr>
          <p:cNvSpPr txBox="1"/>
          <p:nvPr/>
        </p:nvSpPr>
        <p:spPr>
          <a:xfrm>
            <a:off x="848684" y="2259930"/>
            <a:ext cx="7821771" cy="1477328"/>
          </a:xfrm>
          <a:prstGeom prst="rect">
            <a:avLst/>
          </a:prstGeom>
        </p:spPr>
        <p:txBody>
          <a:bodyPr lIns="0" tIns="0" rIns="0" bIns="0" rtlCol="0" anchor="t">
            <a:spAutoFit/>
          </a:bodyPr>
          <a:lstStyle/>
          <a:p>
            <a:pPr algn="l" fontAlgn="base">
              <a:buFont typeface="Arial" panose="020B0604020202020204" pitchFamily="34" charset="0"/>
              <a:buChar char="•"/>
            </a:pPr>
            <a:r>
              <a:rPr lang="en-US" sz="3200" b="0" i="0" dirty="0">
                <a:solidFill>
                  <a:srgbClr val="FFFFFF"/>
                </a:solidFill>
                <a:effectLst/>
                <a:latin typeface="Nunito" pitchFamily="2" charset="77"/>
              </a:rPr>
              <a:t>The .grid-container is set to display as a grid with three equal-width columns (1fr each) and a 10px gap between them.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EAA65-14E7-F6AB-D030-02AC0DD8BA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13ECBC-4162-1B1A-FBDE-12F8BF4F4694}"/>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a:extLst>
              <a:ext uri="{FF2B5EF4-FFF2-40B4-BE49-F238E27FC236}">
                <a16:creationId xmlns:a16="http://schemas.microsoft.com/office/drawing/2014/main" id="{4B078AF5-8AD4-4E99-2893-CAF2D675F9EC}"/>
              </a:ext>
            </a:extLst>
          </p:cNvPr>
          <p:cNvSpPr/>
          <p:nvPr/>
        </p:nvSpPr>
        <p:spPr>
          <a:xfrm>
            <a:off x="0" y="0"/>
            <a:ext cx="18287999" cy="10287000"/>
          </a:xfrm>
          <a:custGeom>
            <a:avLst/>
            <a:gdLst/>
            <a:ahLst/>
            <a:cxnLst/>
            <a:rect l="l" t="t" r="r" b="b"/>
            <a:pathLst>
              <a:path w="17024727" h="10737964">
                <a:moveTo>
                  <a:pt x="0" y="0"/>
                </a:moveTo>
                <a:lnTo>
                  <a:pt x="17024726" y="0"/>
                </a:lnTo>
                <a:lnTo>
                  <a:pt x="17024726" y="10737964"/>
                </a:lnTo>
                <a:lnTo>
                  <a:pt x="0" y="10737964"/>
                </a:lnTo>
                <a:lnTo>
                  <a:pt x="0" y="0"/>
                </a:lnTo>
                <a:close/>
              </a:path>
            </a:pathLst>
          </a:custGeom>
          <a:blipFill>
            <a:blip r:embed="rId3"/>
            <a:stretch>
              <a:fillRect t="-123699"/>
            </a:stretch>
          </a:blipFill>
        </p:spPr>
      </p:sp>
      <p:sp>
        <p:nvSpPr>
          <p:cNvPr id="11" name="TextBox 10">
            <a:extLst>
              <a:ext uri="{FF2B5EF4-FFF2-40B4-BE49-F238E27FC236}">
                <a16:creationId xmlns:a16="http://schemas.microsoft.com/office/drawing/2014/main" id="{2481A308-E935-FF93-016A-9D187B8F21D8}"/>
              </a:ext>
            </a:extLst>
          </p:cNvPr>
          <p:cNvSpPr txBox="1"/>
          <p:nvPr/>
        </p:nvSpPr>
        <p:spPr>
          <a:xfrm>
            <a:off x="814322" y="4267883"/>
            <a:ext cx="9144000" cy="5262979"/>
          </a:xfrm>
          <a:prstGeom prst="rect">
            <a:avLst/>
          </a:prstGeom>
          <a:noFill/>
        </p:spPr>
        <p:txBody>
          <a:bodyPr wrap="square">
            <a:spAutoFit/>
          </a:bodyPr>
          <a:lstStyle/>
          <a:p>
            <a:r>
              <a:rPr lang="en-US" sz="2800" b="0" dirty="0">
                <a:solidFill>
                  <a:srgbClr val="D7BA7D"/>
                </a:solidFill>
                <a:effectLst/>
                <a:latin typeface="Menlo" panose="020B0609030804020204" pitchFamily="49" charset="0"/>
              </a:rPr>
              <a:t>.grid-container</a:t>
            </a:r>
            <a:r>
              <a:rPr lang="en-US" sz="2800" b="0" dirty="0">
                <a:solidFill>
                  <a:srgbClr val="D4D4D4"/>
                </a:solidFill>
                <a:effectLst/>
                <a:latin typeface="Menlo" panose="020B0609030804020204" pitchFamily="49" charset="0"/>
              </a:rPr>
              <a:t> {</a:t>
            </a:r>
          </a:p>
          <a:p>
            <a:r>
              <a:rPr lang="en-US" sz="2800" b="0" dirty="0">
                <a:solidFill>
                  <a:srgbClr val="9CDCFE"/>
                </a:solidFill>
                <a:effectLst/>
                <a:latin typeface="Menlo" panose="020B0609030804020204" pitchFamily="49" charset="0"/>
              </a:rPr>
              <a:t>display</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grid</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grid-template-rows</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auto</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auto auto</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gap</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15px</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br>
              <a:rPr lang="en-US" sz="2800" b="0" dirty="0">
                <a:solidFill>
                  <a:srgbClr val="CCCCCC"/>
                </a:solidFill>
                <a:effectLst/>
                <a:latin typeface="Menlo" panose="020B0609030804020204" pitchFamily="49" charset="0"/>
              </a:rPr>
            </a:br>
            <a:r>
              <a:rPr lang="en-US" sz="2800" b="0" dirty="0">
                <a:solidFill>
                  <a:srgbClr val="D7BA7D"/>
                </a:solidFill>
                <a:effectLst/>
                <a:latin typeface="Menlo" panose="020B0609030804020204" pitchFamily="49" charset="0"/>
              </a:rPr>
              <a:t>.grid-item</a:t>
            </a:r>
            <a:r>
              <a:rPr lang="en-US" sz="2800" b="0" dirty="0">
                <a:solidFill>
                  <a:srgbClr val="D4D4D4"/>
                </a:solidFill>
                <a:effectLst/>
                <a:latin typeface="Menlo" panose="020B0609030804020204" pitchFamily="49" charset="0"/>
              </a:rPr>
              <a:t> {</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background-color</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#e0e0e0</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padding</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15px</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text-align</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center</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outline</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1px</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solid</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red</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p:txBody>
      </p:sp>
      <p:sp>
        <p:nvSpPr>
          <p:cNvPr id="13" name="Rectangle 12">
            <a:extLst>
              <a:ext uri="{FF2B5EF4-FFF2-40B4-BE49-F238E27FC236}">
                <a16:creationId xmlns:a16="http://schemas.microsoft.com/office/drawing/2014/main" id="{A7A2B2C3-2EA1-D525-CB78-C45CB15A7CF9}"/>
              </a:ext>
            </a:extLst>
          </p:cNvPr>
          <p:cNvSpPr/>
          <p:nvPr/>
        </p:nvSpPr>
        <p:spPr>
          <a:xfrm>
            <a:off x="9448800" y="2021889"/>
            <a:ext cx="7696200" cy="69342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E902728-2FC1-B0B7-A714-D0C032B8035C}"/>
              </a:ext>
            </a:extLst>
          </p:cNvPr>
          <p:cNvSpPr/>
          <p:nvPr/>
        </p:nvSpPr>
        <p:spPr>
          <a:xfrm>
            <a:off x="9731966" y="2400300"/>
            <a:ext cx="7184433" cy="1907589"/>
          </a:xfrm>
          <a:prstGeom prst="rect">
            <a:avLst/>
          </a:prstGeom>
          <a:solidFill>
            <a:schemeClr val="bg1"/>
          </a:solid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Row 1</a:t>
            </a:r>
          </a:p>
        </p:txBody>
      </p:sp>
      <p:sp>
        <p:nvSpPr>
          <p:cNvPr id="16" name="Rectangle 15">
            <a:extLst>
              <a:ext uri="{FF2B5EF4-FFF2-40B4-BE49-F238E27FC236}">
                <a16:creationId xmlns:a16="http://schemas.microsoft.com/office/drawing/2014/main" id="{FFE01E2E-31B8-F46A-A003-8F11E396684A}"/>
              </a:ext>
            </a:extLst>
          </p:cNvPr>
          <p:cNvSpPr/>
          <p:nvPr/>
        </p:nvSpPr>
        <p:spPr>
          <a:xfrm>
            <a:off x="9731966" y="6670088"/>
            <a:ext cx="7184431" cy="1907589"/>
          </a:xfrm>
          <a:prstGeom prst="rect">
            <a:avLst/>
          </a:prstGeom>
          <a:solidFill>
            <a:schemeClr val="bg1"/>
          </a:solid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Row 3</a:t>
            </a:r>
          </a:p>
        </p:txBody>
      </p:sp>
      <p:sp>
        <p:nvSpPr>
          <p:cNvPr id="17" name="Rectangle 16">
            <a:extLst>
              <a:ext uri="{FF2B5EF4-FFF2-40B4-BE49-F238E27FC236}">
                <a16:creationId xmlns:a16="http://schemas.microsoft.com/office/drawing/2014/main" id="{3052451B-BD6C-DEBE-41F4-A96D9BDF3157}"/>
              </a:ext>
            </a:extLst>
          </p:cNvPr>
          <p:cNvSpPr/>
          <p:nvPr/>
        </p:nvSpPr>
        <p:spPr>
          <a:xfrm>
            <a:off x="9731967" y="4535194"/>
            <a:ext cx="7184432" cy="1907589"/>
          </a:xfrm>
          <a:prstGeom prst="rect">
            <a:avLst/>
          </a:prstGeom>
          <a:solidFill>
            <a:schemeClr val="bg1"/>
          </a:solid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Row 2</a:t>
            </a:r>
          </a:p>
        </p:txBody>
      </p:sp>
      <p:sp>
        <p:nvSpPr>
          <p:cNvPr id="4" name="TextBox 6">
            <a:extLst>
              <a:ext uri="{FF2B5EF4-FFF2-40B4-BE49-F238E27FC236}">
                <a16:creationId xmlns:a16="http://schemas.microsoft.com/office/drawing/2014/main" id="{BB0F55CB-3B3E-61F3-A59C-8B4E3474D7A0}"/>
              </a:ext>
            </a:extLst>
          </p:cNvPr>
          <p:cNvSpPr txBox="1"/>
          <p:nvPr/>
        </p:nvSpPr>
        <p:spPr>
          <a:xfrm>
            <a:off x="848684" y="2259930"/>
            <a:ext cx="7821771" cy="1477328"/>
          </a:xfrm>
          <a:prstGeom prst="rect">
            <a:avLst/>
          </a:prstGeom>
        </p:spPr>
        <p:txBody>
          <a:bodyPr lIns="0" tIns="0" rIns="0" bIns="0" rtlCol="0" anchor="t">
            <a:spAutoFit/>
          </a:bodyPr>
          <a:lstStyle/>
          <a:p>
            <a:pPr algn="l" fontAlgn="base">
              <a:buFont typeface="Arial" panose="020B0604020202020204" pitchFamily="34" charset="0"/>
              <a:buChar char="•"/>
            </a:pPr>
            <a:r>
              <a:rPr lang="en-US" sz="3200" b="0" i="0" dirty="0">
                <a:solidFill>
                  <a:srgbClr val="FFFFFF"/>
                </a:solidFill>
                <a:effectLst/>
                <a:latin typeface="Nunito" pitchFamily="2" charset="77"/>
              </a:rPr>
              <a:t>The .grid-container is defined as a grid with two rows (auto height) and a 15px gap between them.</a:t>
            </a:r>
          </a:p>
        </p:txBody>
      </p:sp>
      <p:sp>
        <p:nvSpPr>
          <p:cNvPr id="7" name="TextBox 6">
            <a:extLst>
              <a:ext uri="{FF2B5EF4-FFF2-40B4-BE49-F238E27FC236}">
                <a16:creationId xmlns:a16="http://schemas.microsoft.com/office/drawing/2014/main" id="{3C2B9542-BFE2-8140-4226-5300D6699BBE}"/>
              </a:ext>
            </a:extLst>
          </p:cNvPr>
          <p:cNvSpPr txBox="1"/>
          <p:nvPr/>
        </p:nvSpPr>
        <p:spPr>
          <a:xfrm>
            <a:off x="814322" y="723900"/>
            <a:ext cx="16330678" cy="2003112"/>
          </a:xfrm>
          <a:prstGeom prst="rect">
            <a:avLst/>
          </a:prstGeom>
        </p:spPr>
        <p:txBody>
          <a:bodyPr wrap="square" lIns="0" tIns="0" rIns="0" bIns="0" rtlCol="0" anchor="t">
            <a:spAutoFit/>
          </a:bodyPr>
          <a:lstStyle/>
          <a:p>
            <a:pPr>
              <a:lnSpc>
                <a:spcPts val="8039"/>
              </a:lnSpc>
            </a:pPr>
            <a:r>
              <a:rPr lang="en-US" sz="5400" b="1" dirty="0">
                <a:solidFill>
                  <a:srgbClr val="FFFFFF"/>
                </a:solidFill>
                <a:latin typeface="Glacial Indifference Bold"/>
                <a:ea typeface="Glacial Indifference Bold"/>
                <a:cs typeface="Glacial Indifference Bold"/>
                <a:sym typeface="Glacial Indifference Bold"/>
              </a:rPr>
              <a:t>Example 2: </a:t>
            </a:r>
            <a:r>
              <a:rPr lang="en-US" sz="5400" b="1" i="0" dirty="0">
                <a:solidFill>
                  <a:srgbClr val="FFFFFF"/>
                </a:solidFill>
                <a:effectLst/>
                <a:latin typeface="Nunito" pitchFamily="2" charset="77"/>
              </a:rPr>
              <a:t>Responsive Three-Row Layout</a:t>
            </a:r>
          </a:p>
          <a:p>
            <a:pPr>
              <a:lnSpc>
                <a:spcPts val="8039"/>
              </a:lnSpc>
            </a:pPr>
            <a:endParaRPr lang="en-US" sz="5400" b="1" i="0" dirty="0">
              <a:solidFill>
                <a:srgbClr val="FFFFFF"/>
              </a:solidFill>
              <a:effectLst/>
              <a:latin typeface="Nunito" pitchFamily="2" charset="77"/>
            </a:endParaRPr>
          </a:p>
        </p:txBody>
      </p:sp>
    </p:spTree>
    <p:extLst>
      <p:ext uri="{BB962C8B-B14F-4D97-AF65-F5344CB8AC3E}">
        <p14:creationId xmlns:p14="http://schemas.microsoft.com/office/powerpoint/2010/main" val="4230149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540A0-4A72-9594-EEAA-4F8007CFCE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18162BB-1E0D-D317-CBE9-21AF46F196A4}"/>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a:extLst>
              <a:ext uri="{FF2B5EF4-FFF2-40B4-BE49-F238E27FC236}">
                <a16:creationId xmlns:a16="http://schemas.microsoft.com/office/drawing/2014/main" id="{4396C516-8E9B-1E11-C39F-EFD676E48188}"/>
              </a:ext>
            </a:extLst>
          </p:cNvPr>
          <p:cNvSpPr/>
          <p:nvPr/>
        </p:nvSpPr>
        <p:spPr>
          <a:xfrm>
            <a:off x="0" y="0"/>
            <a:ext cx="18287999" cy="10287000"/>
          </a:xfrm>
          <a:custGeom>
            <a:avLst/>
            <a:gdLst/>
            <a:ahLst/>
            <a:cxnLst/>
            <a:rect l="l" t="t" r="r" b="b"/>
            <a:pathLst>
              <a:path w="17024727" h="10737964">
                <a:moveTo>
                  <a:pt x="0" y="0"/>
                </a:moveTo>
                <a:lnTo>
                  <a:pt x="17024726" y="0"/>
                </a:lnTo>
                <a:lnTo>
                  <a:pt x="17024726" y="10737964"/>
                </a:lnTo>
                <a:lnTo>
                  <a:pt x="0" y="10737964"/>
                </a:lnTo>
                <a:lnTo>
                  <a:pt x="0" y="0"/>
                </a:lnTo>
                <a:close/>
              </a:path>
            </a:pathLst>
          </a:custGeom>
          <a:blipFill>
            <a:blip r:embed="rId3"/>
            <a:stretch>
              <a:fillRect t="-123699"/>
            </a:stretch>
          </a:blipFill>
        </p:spPr>
      </p:sp>
      <p:sp>
        <p:nvSpPr>
          <p:cNvPr id="11" name="TextBox 10">
            <a:extLst>
              <a:ext uri="{FF2B5EF4-FFF2-40B4-BE49-F238E27FC236}">
                <a16:creationId xmlns:a16="http://schemas.microsoft.com/office/drawing/2014/main" id="{43175BFF-D6BC-103E-D522-7F2E768AEAF1}"/>
              </a:ext>
            </a:extLst>
          </p:cNvPr>
          <p:cNvSpPr txBox="1"/>
          <p:nvPr/>
        </p:nvSpPr>
        <p:spPr>
          <a:xfrm>
            <a:off x="814322" y="4604921"/>
            <a:ext cx="9144000" cy="5262979"/>
          </a:xfrm>
          <a:prstGeom prst="rect">
            <a:avLst/>
          </a:prstGeom>
          <a:noFill/>
        </p:spPr>
        <p:txBody>
          <a:bodyPr wrap="square">
            <a:spAutoFit/>
          </a:bodyPr>
          <a:lstStyle/>
          <a:p>
            <a:r>
              <a:rPr lang="en-US" sz="2800" b="0" dirty="0">
                <a:solidFill>
                  <a:srgbClr val="D7BA7D"/>
                </a:solidFill>
                <a:effectLst/>
                <a:latin typeface="Menlo" panose="020B0609030804020204" pitchFamily="49" charset="0"/>
              </a:rPr>
              <a:t>.grid-container</a:t>
            </a:r>
            <a:r>
              <a:rPr lang="en-US" sz="2800" b="0" dirty="0">
                <a:solidFill>
                  <a:srgbClr val="D4D4D4"/>
                </a:solidFill>
                <a:effectLst/>
                <a:latin typeface="Menlo" panose="020B0609030804020204" pitchFamily="49" charset="0"/>
              </a:rPr>
              <a:t> {</a:t>
            </a:r>
          </a:p>
          <a:p>
            <a:r>
              <a:rPr lang="en-US" sz="2800" b="0" dirty="0">
                <a:solidFill>
                  <a:srgbClr val="9CDCFE"/>
                </a:solidFill>
                <a:effectLst/>
                <a:latin typeface="Menlo" panose="020B0609030804020204" pitchFamily="49" charset="0"/>
              </a:rPr>
              <a:t>display</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grid</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grid-template-columns</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1fr</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2fr</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gap</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10px</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br>
              <a:rPr lang="en-US" sz="2800" b="0" dirty="0">
                <a:solidFill>
                  <a:srgbClr val="CCCCCC"/>
                </a:solidFill>
                <a:effectLst/>
                <a:latin typeface="Menlo" panose="020B0609030804020204" pitchFamily="49" charset="0"/>
              </a:rPr>
            </a:br>
            <a:r>
              <a:rPr lang="en-US" sz="2800" b="0" dirty="0">
                <a:solidFill>
                  <a:srgbClr val="D7BA7D"/>
                </a:solidFill>
                <a:effectLst/>
                <a:latin typeface="Menlo" panose="020B0609030804020204" pitchFamily="49" charset="0"/>
              </a:rPr>
              <a:t>.grid-item</a:t>
            </a:r>
            <a:r>
              <a:rPr lang="en-US" sz="2800" b="0" dirty="0">
                <a:solidFill>
                  <a:srgbClr val="D4D4D4"/>
                </a:solidFill>
                <a:effectLst/>
                <a:latin typeface="Menlo" panose="020B0609030804020204" pitchFamily="49" charset="0"/>
              </a:rPr>
              <a:t> {</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background-color</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#f0f0f0</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padding</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20px</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text-align</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center</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9CDCFE"/>
                </a:solidFill>
                <a:effectLst/>
                <a:latin typeface="Menlo" panose="020B0609030804020204" pitchFamily="49" charset="0"/>
              </a:rPr>
              <a:t>outline</a:t>
            </a:r>
            <a:r>
              <a:rPr lang="en-US" sz="2800" b="0" dirty="0">
                <a:solidFill>
                  <a:srgbClr val="D4D4D4"/>
                </a:solidFill>
                <a:effectLst/>
                <a:latin typeface="Menlo" panose="020B0609030804020204" pitchFamily="49" charset="0"/>
              </a:rPr>
              <a:t>: </a:t>
            </a:r>
            <a:r>
              <a:rPr lang="en-US" sz="2800" b="0" dirty="0">
                <a:solidFill>
                  <a:srgbClr val="B5CEA8"/>
                </a:solidFill>
                <a:effectLst/>
                <a:latin typeface="Menlo" panose="020B0609030804020204" pitchFamily="49" charset="0"/>
              </a:rPr>
              <a:t>1px</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solid</a:t>
            </a:r>
            <a:r>
              <a:rPr lang="en-US" sz="2800" b="0" dirty="0">
                <a:solidFill>
                  <a:srgbClr val="D4D4D4"/>
                </a:solidFill>
                <a:effectLst/>
                <a:latin typeface="Menlo" panose="020B0609030804020204" pitchFamily="49" charset="0"/>
              </a:rPr>
              <a:t> </a:t>
            </a:r>
            <a:r>
              <a:rPr lang="en-US" sz="2800" b="0" dirty="0">
                <a:solidFill>
                  <a:srgbClr val="CE9178"/>
                </a:solidFill>
                <a:effectLst/>
                <a:latin typeface="Menlo" panose="020B0609030804020204" pitchFamily="49" charset="0"/>
              </a:rPr>
              <a:t>red</a:t>
            </a:r>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a:p>
            <a:r>
              <a:rPr lang="en-US" sz="2800" b="0" dirty="0">
                <a:solidFill>
                  <a:srgbClr val="D4D4D4"/>
                </a:solidFill>
                <a:effectLst/>
                <a:latin typeface="Menlo" panose="020B0609030804020204" pitchFamily="49" charset="0"/>
              </a:rPr>
              <a:t>}</a:t>
            </a:r>
            <a:endParaRPr lang="en-US" sz="2800" b="0" dirty="0">
              <a:solidFill>
                <a:srgbClr val="CCCCCC"/>
              </a:solidFill>
              <a:effectLst/>
              <a:latin typeface="Menlo" panose="020B0609030804020204" pitchFamily="49" charset="0"/>
            </a:endParaRPr>
          </a:p>
        </p:txBody>
      </p:sp>
      <p:sp>
        <p:nvSpPr>
          <p:cNvPr id="13" name="Rectangle 12">
            <a:extLst>
              <a:ext uri="{FF2B5EF4-FFF2-40B4-BE49-F238E27FC236}">
                <a16:creationId xmlns:a16="http://schemas.microsoft.com/office/drawing/2014/main" id="{1B9E7F87-F50C-364A-84CE-0AEA70970528}"/>
              </a:ext>
            </a:extLst>
          </p:cNvPr>
          <p:cNvSpPr/>
          <p:nvPr/>
        </p:nvSpPr>
        <p:spPr>
          <a:xfrm>
            <a:off x="10287000" y="2021889"/>
            <a:ext cx="7696200" cy="69342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85F5B2F-DA36-924F-5FE2-51DC9F97065B}"/>
              </a:ext>
            </a:extLst>
          </p:cNvPr>
          <p:cNvSpPr/>
          <p:nvPr/>
        </p:nvSpPr>
        <p:spPr>
          <a:xfrm>
            <a:off x="10570167" y="2400300"/>
            <a:ext cx="1850434" cy="1907589"/>
          </a:xfrm>
          <a:prstGeom prst="rect">
            <a:avLst/>
          </a:prstGeom>
          <a:solidFill>
            <a:schemeClr val="bg1"/>
          </a:solid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Item 1</a:t>
            </a:r>
          </a:p>
        </p:txBody>
      </p:sp>
      <p:sp>
        <p:nvSpPr>
          <p:cNvPr id="17" name="Rectangle 16">
            <a:extLst>
              <a:ext uri="{FF2B5EF4-FFF2-40B4-BE49-F238E27FC236}">
                <a16:creationId xmlns:a16="http://schemas.microsoft.com/office/drawing/2014/main" id="{00CD89FF-C6A4-141D-3B97-E7C0E545E908}"/>
              </a:ext>
            </a:extLst>
          </p:cNvPr>
          <p:cNvSpPr/>
          <p:nvPr/>
        </p:nvSpPr>
        <p:spPr>
          <a:xfrm>
            <a:off x="12703768" y="2400300"/>
            <a:ext cx="5029199" cy="1907589"/>
          </a:xfrm>
          <a:prstGeom prst="rect">
            <a:avLst/>
          </a:prstGeom>
          <a:solidFill>
            <a:schemeClr val="bg1"/>
          </a:solid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Item 2</a:t>
            </a:r>
          </a:p>
        </p:txBody>
      </p:sp>
      <p:sp>
        <p:nvSpPr>
          <p:cNvPr id="4" name="TextBox 6">
            <a:extLst>
              <a:ext uri="{FF2B5EF4-FFF2-40B4-BE49-F238E27FC236}">
                <a16:creationId xmlns:a16="http://schemas.microsoft.com/office/drawing/2014/main" id="{E158CFB0-9836-38DB-2156-5C825398FD5E}"/>
              </a:ext>
            </a:extLst>
          </p:cNvPr>
          <p:cNvSpPr txBox="1"/>
          <p:nvPr/>
        </p:nvSpPr>
        <p:spPr>
          <a:xfrm>
            <a:off x="848684" y="2523172"/>
            <a:ext cx="9392805" cy="2154436"/>
          </a:xfrm>
          <a:prstGeom prst="rect">
            <a:avLst/>
          </a:prstGeom>
        </p:spPr>
        <p:txBody>
          <a:bodyPr wrap="square" lIns="0" tIns="0" rIns="0" bIns="0" rtlCol="0" anchor="t">
            <a:spAutoFit/>
          </a:bodyPr>
          <a:lstStyle/>
          <a:p>
            <a:pPr fontAlgn="base"/>
            <a:r>
              <a:rPr lang="en-US" sz="2800" b="0" i="0" dirty="0">
                <a:solidFill>
                  <a:srgbClr val="FFFFFF"/>
                </a:solidFill>
                <a:effectLst/>
                <a:latin typeface="Nunito" pitchFamily="2" charset="77"/>
              </a:rPr>
              <a:t>The .grid-container is defined as a grid with two columns, where the first column takes up one fraction (1fr) of the available space, and the second column takes up two fractions (2fr), creating unequal column widths.</a:t>
            </a:r>
          </a:p>
          <a:p>
            <a:pPr algn="l" fontAlgn="base"/>
            <a:endParaRPr lang="en-US" sz="2800" b="0" i="0" dirty="0">
              <a:solidFill>
                <a:srgbClr val="FFFFFF"/>
              </a:solidFill>
              <a:effectLst/>
              <a:latin typeface="Nunito" pitchFamily="2" charset="77"/>
            </a:endParaRPr>
          </a:p>
        </p:txBody>
      </p:sp>
      <p:sp>
        <p:nvSpPr>
          <p:cNvPr id="7" name="TextBox 6">
            <a:extLst>
              <a:ext uri="{FF2B5EF4-FFF2-40B4-BE49-F238E27FC236}">
                <a16:creationId xmlns:a16="http://schemas.microsoft.com/office/drawing/2014/main" id="{11D4CE31-CA1A-86AB-5716-FBE7336DB6E5}"/>
              </a:ext>
            </a:extLst>
          </p:cNvPr>
          <p:cNvSpPr txBox="1"/>
          <p:nvPr/>
        </p:nvSpPr>
        <p:spPr>
          <a:xfrm>
            <a:off x="814322" y="723900"/>
            <a:ext cx="15797278" cy="2639184"/>
          </a:xfrm>
          <a:prstGeom prst="rect">
            <a:avLst/>
          </a:prstGeom>
        </p:spPr>
        <p:txBody>
          <a:bodyPr wrap="square" lIns="0" tIns="0" rIns="0" bIns="0" rtlCol="0" anchor="t">
            <a:spAutoFit/>
          </a:bodyPr>
          <a:lstStyle/>
          <a:p>
            <a:pPr algn="l" fontAlgn="base"/>
            <a:r>
              <a:rPr lang="en-US" sz="5400" b="1" dirty="0">
                <a:solidFill>
                  <a:srgbClr val="FFFFFF"/>
                </a:solidFill>
                <a:latin typeface="Glacial Indifference Bold"/>
                <a:ea typeface="Glacial Indifference Bold"/>
                <a:cs typeface="Glacial Indifference Bold"/>
                <a:sym typeface="Glacial Indifference Bold"/>
              </a:rPr>
              <a:t>Example 3: </a:t>
            </a:r>
            <a:r>
              <a:rPr lang="en-US" sz="5400" b="1" i="0" dirty="0">
                <a:solidFill>
                  <a:srgbClr val="FFFFFF"/>
                </a:solidFill>
                <a:effectLst/>
                <a:latin typeface="Nunito" pitchFamily="2" charset="77"/>
              </a:rPr>
              <a:t>Four-Item Grid with Unequal Column Widths</a:t>
            </a:r>
          </a:p>
          <a:p>
            <a:pPr>
              <a:lnSpc>
                <a:spcPts val="8039"/>
              </a:lnSpc>
            </a:pPr>
            <a:endParaRPr lang="en-US" sz="5400" b="1" i="0" dirty="0">
              <a:solidFill>
                <a:srgbClr val="FFFFFF"/>
              </a:solidFill>
              <a:effectLst/>
              <a:latin typeface="Nunito" pitchFamily="2" charset="77"/>
            </a:endParaRPr>
          </a:p>
        </p:txBody>
      </p:sp>
      <p:sp>
        <p:nvSpPr>
          <p:cNvPr id="5" name="Rectangle 4">
            <a:extLst>
              <a:ext uri="{FF2B5EF4-FFF2-40B4-BE49-F238E27FC236}">
                <a16:creationId xmlns:a16="http://schemas.microsoft.com/office/drawing/2014/main" id="{C6AB8B24-3FF2-3EA9-BAD4-0D0EDD4FDA1A}"/>
              </a:ext>
            </a:extLst>
          </p:cNvPr>
          <p:cNvSpPr/>
          <p:nvPr/>
        </p:nvSpPr>
        <p:spPr>
          <a:xfrm>
            <a:off x="10570167" y="4535050"/>
            <a:ext cx="1850434" cy="1907589"/>
          </a:xfrm>
          <a:prstGeom prst="rect">
            <a:avLst/>
          </a:prstGeom>
          <a:solidFill>
            <a:schemeClr val="bg1"/>
          </a:solid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Item 1</a:t>
            </a:r>
          </a:p>
        </p:txBody>
      </p:sp>
      <p:sp>
        <p:nvSpPr>
          <p:cNvPr id="6" name="Rectangle 5">
            <a:extLst>
              <a:ext uri="{FF2B5EF4-FFF2-40B4-BE49-F238E27FC236}">
                <a16:creationId xmlns:a16="http://schemas.microsoft.com/office/drawing/2014/main" id="{32561CBF-41BD-47F5-CA85-15587C0E14B1}"/>
              </a:ext>
            </a:extLst>
          </p:cNvPr>
          <p:cNvSpPr/>
          <p:nvPr/>
        </p:nvSpPr>
        <p:spPr>
          <a:xfrm>
            <a:off x="12703768" y="4535050"/>
            <a:ext cx="5029199" cy="1907589"/>
          </a:xfrm>
          <a:prstGeom prst="rect">
            <a:avLst/>
          </a:prstGeom>
          <a:solidFill>
            <a:schemeClr val="bg1"/>
          </a:solid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rPr>
              <a:t>Item 2</a:t>
            </a:r>
          </a:p>
        </p:txBody>
      </p:sp>
    </p:spTree>
    <p:extLst>
      <p:ext uri="{BB962C8B-B14F-4D97-AF65-F5344CB8AC3E}">
        <p14:creationId xmlns:p14="http://schemas.microsoft.com/office/powerpoint/2010/main" val="1428118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flipV="1">
            <a:off x="5887357" y="-2113643"/>
            <a:ext cx="10287000" cy="14514286"/>
          </a:xfrm>
          <a:custGeom>
            <a:avLst/>
            <a:gdLst/>
            <a:ahLst/>
            <a:cxnLst/>
            <a:rect l="l" t="t" r="r" b="b"/>
            <a:pathLst>
              <a:path w="10287000" h="14514286">
                <a:moveTo>
                  <a:pt x="0" y="14514286"/>
                </a:moveTo>
                <a:lnTo>
                  <a:pt x="10287000" y="14514286"/>
                </a:lnTo>
                <a:lnTo>
                  <a:pt x="10287000" y="0"/>
                </a:lnTo>
                <a:lnTo>
                  <a:pt x="0" y="0"/>
                </a:lnTo>
                <a:lnTo>
                  <a:pt x="0" y="14514286"/>
                </a:lnTo>
                <a:close/>
              </a:path>
            </a:pathLst>
          </a:custGeom>
          <a:blipFill>
            <a:blip r:embed="rId3"/>
            <a:stretch>
              <a:fillRect/>
            </a:stretch>
          </a:blipFill>
        </p:spPr>
      </p:sp>
      <p:sp>
        <p:nvSpPr>
          <p:cNvPr id="5" name="TextBox 5"/>
          <p:cNvSpPr txBox="1"/>
          <p:nvPr/>
        </p:nvSpPr>
        <p:spPr>
          <a:xfrm>
            <a:off x="1039586" y="945696"/>
            <a:ext cx="11533414" cy="2051844"/>
          </a:xfrm>
          <a:prstGeom prst="rect">
            <a:avLst/>
          </a:prstGeom>
        </p:spPr>
        <p:txBody>
          <a:bodyPr wrap="square" lIns="0" tIns="0" rIns="0" bIns="0" rtlCol="0" anchor="t">
            <a:spAutoFit/>
          </a:bodyPr>
          <a:lstStyle/>
          <a:p>
            <a:pPr>
              <a:lnSpc>
                <a:spcPts val="8039"/>
              </a:lnSpc>
            </a:pPr>
            <a:r>
              <a:rPr lang="en-US" sz="7114" b="1" dirty="0">
                <a:solidFill>
                  <a:srgbClr val="FFFFFF"/>
                </a:solidFill>
                <a:latin typeface="Glacial Indifference Bold"/>
                <a:ea typeface="Glacial Indifference Bold"/>
                <a:cs typeface="Glacial Indifference Bold"/>
                <a:sym typeface="Glacial Indifference Bold"/>
              </a:rPr>
              <a:t>Best Practices for CSS Grid Layout </a:t>
            </a:r>
          </a:p>
        </p:txBody>
      </p:sp>
      <p:sp>
        <p:nvSpPr>
          <p:cNvPr id="6" name="TextBox 6"/>
          <p:cNvSpPr txBox="1"/>
          <p:nvPr/>
        </p:nvSpPr>
        <p:spPr>
          <a:xfrm>
            <a:off x="1600200" y="3666172"/>
            <a:ext cx="15735300" cy="2954655"/>
          </a:xfrm>
          <a:prstGeom prst="rect">
            <a:avLst/>
          </a:prstGeom>
        </p:spPr>
        <p:txBody>
          <a:bodyPr wrap="square" lIns="0" tIns="0" rIns="0" bIns="0" rtlCol="0" anchor="t">
            <a:spAutoFit/>
          </a:bodyPr>
          <a:lstStyle/>
          <a:p>
            <a:pPr algn="l" fontAlgn="base">
              <a:buFont typeface="Arial" panose="020B0604020202020204" pitchFamily="34" charset="0"/>
              <a:buChar char="•"/>
            </a:pPr>
            <a:r>
              <a:rPr lang="en-US" sz="3200" b="1" i="0" dirty="0">
                <a:solidFill>
                  <a:srgbClr val="FFFFFF"/>
                </a:solidFill>
                <a:effectLst/>
                <a:latin typeface="Nunito" pitchFamily="2" charset="77"/>
              </a:rPr>
              <a:t>Use Flexible Units: </a:t>
            </a:r>
            <a:r>
              <a:rPr lang="en-US" sz="3200" b="0" i="0" dirty="0">
                <a:solidFill>
                  <a:srgbClr val="FFFFFF"/>
                </a:solidFill>
                <a:effectLst/>
                <a:latin typeface="Nunito" pitchFamily="2" charset="77"/>
              </a:rPr>
              <a:t>Utilize flexible units like </a:t>
            </a:r>
            <a:r>
              <a:rPr lang="en-US" sz="3200" b="0" i="0" dirty="0" err="1">
                <a:solidFill>
                  <a:srgbClr val="FFFFFF"/>
                </a:solidFill>
                <a:effectLst/>
                <a:latin typeface="Nunito" pitchFamily="2" charset="77"/>
              </a:rPr>
              <a:t>fr</a:t>
            </a:r>
            <a:r>
              <a:rPr lang="en-US" sz="3200" b="0" i="0" dirty="0">
                <a:solidFill>
                  <a:srgbClr val="FFFFFF"/>
                </a:solidFill>
                <a:effectLst/>
                <a:latin typeface="Nunito" pitchFamily="2" charset="77"/>
              </a:rPr>
              <a:t> and minmax() to create responsive layouts that adapt to various screen sizes.</a:t>
            </a:r>
          </a:p>
          <a:p>
            <a:pPr algn="l" fontAlgn="base">
              <a:buFont typeface="Arial" panose="020B0604020202020204" pitchFamily="34" charset="0"/>
              <a:buChar char="•"/>
            </a:pPr>
            <a:r>
              <a:rPr lang="en-US" sz="3200" b="1" i="0" dirty="0">
                <a:solidFill>
                  <a:srgbClr val="FFFFFF"/>
                </a:solidFill>
                <a:effectLst/>
                <a:latin typeface="Nunito" pitchFamily="2" charset="77"/>
              </a:rPr>
              <a:t>Define Explicit Grid Areas</a:t>
            </a:r>
            <a:r>
              <a:rPr lang="en-US" sz="3200" b="0" i="0" dirty="0">
                <a:solidFill>
                  <a:srgbClr val="FFFFFF"/>
                </a:solidFill>
                <a:effectLst/>
                <a:latin typeface="Nunito" pitchFamily="2" charset="77"/>
              </a:rPr>
              <a:t>: Clearly specify grid areas using grid-template-areas for better readability and maintainability of your code.</a:t>
            </a:r>
          </a:p>
          <a:p>
            <a:pPr algn="l" fontAlgn="base">
              <a:buFont typeface="Arial" panose="020B0604020202020204" pitchFamily="34" charset="0"/>
              <a:buChar char="•"/>
            </a:pPr>
            <a:r>
              <a:rPr lang="en-US" sz="3200" b="1" i="0" dirty="0">
                <a:solidFill>
                  <a:srgbClr val="FFFFFF"/>
                </a:solidFill>
                <a:effectLst/>
                <a:latin typeface="Nunito" pitchFamily="2" charset="77"/>
              </a:rPr>
              <a:t>Combine with Other Layout Methods: </a:t>
            </a:r>
            <a:r>
              <a:rPr lang="en-US" sz="3200" b="0" i="0" dirty="0">
                <a:solidFill>
                  <a:srgbClr val="FFFFFF"/>
                </a:solidFill>
                <a:effectLst/>
                <a:latin typeface="Nunito" pitchFamily="2" charset="77"/>
              </a:rPr>
              <a:t>Integrate CSS Grid with Flexbox to leverage the strengths of both and achieve complex, responsive design</a:t>
            </a:r>
          </a:p>
        </p:txBody>
      </p:sp>
      <p:sp>
        <p:nvSpPr>
          <p:cNvPr id="8" name="TextBox 8"/>
          <p:cNvSpPr txBox="1"/>
          <p:nvPr/>
        </p:nvSpPr>
        <p:spPr>
          <a:xfrm>
            <a:off x="228600" y="9573760"/>
            <a:ext cx="10401300" cy="496226"/>
          </a:xfrm>
          <a:prstGeom prst="rect">
            <a:avLst/>
          </a:prstGeom>
        </p:spPr>
        <p:txBody>
          <a:bodyPr wrap="square" lIns="0" tIns="0" rIns="0" bIns="0" rtlCol="0" anchor="t">
            <a:spAutoFit/>
          </a:bodyPr>
          <a:lstStyle/>
          <a:p>
            <a:pPr>
              <a:lnSpc>
                <a:spcPts val="4200"/>
              </a:lnSpc>
            </a:pPr>
            <a:r>
              <a:rPr lang="en-US" sz="2400" i="1" dirty="0">
                <a:solidFill>
                  <a:srgbClr val="FFFFFF"/>
                </a:solidFill>
                <a:latin typeface="HK Grotesk Italics"/>
                <a:ea typeface="HK Grotesk Italics"/>
                <a:cs typeface="HK Grotesk Italics"/>
                <a:sym typeface="HK Grotesk Italics"/>
                <a:hlinkClick r:id="rId4"/>
              </a:rPr>
              <a:t>https://</a:t>
            </a:r>
            <a:r>
              <a:rPr lang="en-US" sz="2400" i="1" dirty="0" err="1">
                <a:solidFill>
                  <a:srgbClr val="FFFFFF"/>
                </a:solidFill>
                <a:latin typeface="HK Grotesk Italics"/>
                <a:ea typeface="HK Grotesk Italics"/>
                <a:cs typeface="HK Grotesk Italics"/>
                <a:sym typeface="HK Grotesk Italics"/>
                <a:hlinkClick r:id="rId4"/>
              </a:rPr>
              <a:t>www.geeksforgeeks.org</a:t>
            </a:r>
            <a:r>
              <a:rPr lang="en-US" sz="2400" i="1" dirty="0">
                <a:solidFill>
                  <a:srgbClr val="FFFFFF"/>
                </a:solidFill>
                <a:latin typeface="HK Grotesk Italics"/>
                <a:ea typeface="HK Grotesk Italics"/>
                <a:cs typeface="HK Grotesk Italics"/>
                <a:sym typeface="HK Grotesk Italics"/>
                <a:hlinkClick r:id="rId4"/>
              </a:rPr>
              <a:t>/</a:t>
            </a:r>
            <a:r>
              <a:rPr lang="en-US" sz="2400" i="1" dirty="0" err="1">
                <a:solidFill>
                  <a:srgbClr val="FFFFFF"/>
                </a:solidFill>
                <a:latin typeface="HK Grotesk Italics"/>
                <a:ea typeface="HK Grotesk Italics"/>
                <a:cs typeface="HK Grotesk Italics"/>
                <a:sym typeface="HK Grotesk Italics"/>
                <a:hlinkClick r:id="rId4"/>
              </a:rPr>
              <a:t>css</a:t>
            </a:r>
            <a:r>
              <a:rPr lang="en-US" sz="2400" i="1" dirty="0">
                <a:solidFill>
                  <a:srgbClr val="FFFFFF"/>
                </a:solidFill>
                <a:latin typeface="HK Grotesk Italics"/>
                <a:ea typeface="HK Grotesk Italics"/>
                <a:cs typeface="HK Grotesk Italics"/>
                <a:sym typeface="HK Grotesk Italics"/>
                <a:hlinkClick r:id="rId4"/>
              </a:rPr>
              <a:t>/</a:t>
            </a:r>
            <a:r>
              <a:rPr lang="en-US" sz="2400" i="1" dirty="0" err="1">
                <a:solidFill>
                  <a:srgbClr val="FFFFFF"/>
                </a:solidFill>
                <a:latin typeface="HK Grotesk Italics"/>
                <a:ea typeface="HK Grotesk Italics"/>
                <a:cs typeface="HK Grotesk Italics"/>
                <a:sym typeface="HK Grotesk Italics"/>
                <a:hlinkClick r:id="rId4"/>
              </a:rPr>
              <a:t>css</a:t>
            </a:r>
            <a:r>
              <a:rPr lang="en-US" sz="2400" i="1" dirty="0">
                <a:solidFill>
                  <a:srgbClr val="FFFFFF"/>
                </a:solidFill>
                <a:latin typeface="HK Grotesk Italics"/>
                <a:ea typeface="HK Grotesk Italics"/>
                <a:cs typeface="HK Grotesk Italics"/>
                <a:sym typeface="HK Grotesk Italics"/>
                <a:hlinkClick r:id="rId4"/>
              </a:rPr>
              <a:t>-grid-layout-module/</a:t>
            </a:r>
            <a:endParaRPr lang="en-US" sz="2400" i="1" dirty="0">
              <a:solidFill>
                <a:srgbClr val="FFFFFF"/>
              </a:solidFill>
              <a:latin typeface="HK Grotesk Italics"/>
              <a:ea typeface="HK Grotesk Italics"/>
              <a:cs typeface="HK Grotesk Italics"/>
              <a:sym typeface="HK Grotesk Itali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22461-0E6F-5C63-DF89-FC731906C33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5C7AF3-C89D-062E-F9AF-CC6237773BA7}"/>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a:extLst>
              <a:ext uri="{FF2B5EF4-FFF2-40B4-BE49-F238E27FC236}">
                <a16:creationId xmlns:a16="http://schemas.microsoft.com/office/drawing/2014/main" id="{1B60743C-97D9-89E3-177A-5414DEA1DEBD}"/>
              </a:ext>
            </a:extLst>
          </p:cNvPr>
          <p:cNvSpPr/>
          <p:nvPr/>
        </p:nvSpPr>
        <p:spPr>
          <a:xfrm rot="5400000">
            <a:off x="4000500" y="-4000500"/>
            <a:ext cx="10287000" cy="18288000"/>
          </a:xfrm>
          <a:custGeom>
            <a:avLst/>
            <a:gdLst/>
            <a:ahLst/>
            <a:cxnLst/>
            <a:rect l="l" t="t" r="r" b="b"/>
            <a:pathLst>
              <a:path w="10287000" h="14514286">
                <a:moveTo>
                  <a:pt x="0" y="0"/>
                </a:moveTo>
                <a:lnTo>
                  <a:pt x="10287000" y="0"/>
                </a:lnTo>
                <a:lnTo>
                  <a:pt x="10287000" y="14514286"/>
                </a:lnTo>
                <a:lnTo>
                  <a:pt x="0" y="14514286"/>
                </a:lnTo>
                <a:lnTo>
                  <a:pt x="0" y="0"/>
                </a:lnTo>
                <a:close/>
              </a:path>
            </a:pathLst>
          </a:custGeom>
          <a:blipFill>
            <a:blip r:embed="rId3"/>
            <a:stretch>
              <a:fillRect/>
            </a:stretch>
          </a:blipFill>
        </p:spPr>
      </p:sp>
      <p:sp>
        <p:nvSpPr>
          <p:cNvPr id="8" name="TextBox 8">
            <a:extLst>
              <a:ext uri="{FF2B5EF4-FFF2-40B4-BE49-F238E27FC236}">
                <a16:creationId xmlns:a16="http://schemas.microsoft.com/office/drawing/2014/main" id="{5A6D393F-7FE6-49AA-3735-1D8D12EF7F0C}"/>
              </a:ext>
            </a:extLst>
          </p:cNvPr>
          <p:cNvSpPr txBox="1"/>
          <p:nvPr/>
        </p:nvSpPr>
        <p:spPr>
          <a:xfrm>
            <a:off x="830955" y="1181100"/>
            <a:ext cx="8246439" cy="970202"/>
          </a:xfrm>
          <a:prstGeom prst="rect">
            <a:avLst/>
          </a:prstGeom>
        </p:spPr>
        <p:txBody>
          <a:bodyPr wrap="square" lIns="0" tIns="0" rIns="0" bIns="0" rtlCol="0" anchor="t">
            <a:spAutoFit/>
          </a:bodyPr>
          <a:lstStyle/>
          <a:p>
            <a:pPr algn="l">
              <a:lnSpc>
                <a:spcPts val="8039"/>
              </a:lnSpc>
            </a:pPr>
            <a:r>
              <a:rPr lang="en-US" sz="6000" b="1" dirty="0">
                <a:solidFill>
                  <a:schemeClr val="bg1"/>
                </a:solidFill>
              </a:rPr>
              <a:t>CSS Flexbox</a:t>
            </a:r>
            <a:endParaRPr lang="en-US" sz="6000" b="1" dirty="0">
              <a:solidFill>
                <a:schemeClr val="bg1"/>
              </a:solidFill>
              <a:latin typeface="Glacial Indifference Bold"/>
              <a:ea typeface="Glacial Indifference Bold"/>
              <a:cs typeface="Glacial Indifference Bold"/>
              <a:sym typeface="Glacial Indifference Bold"/>
            </a:endParaRPr>
          </a:p>
        </p:txBody>
      </p:sp>
      <p:sp>
        <p:nvSpPr>
          <p:cNvPr id="9" name="TextBox 9">
            <a:extLst>
              <a:ext uri="{FF2B5EF4-FFF2-40B4-BE49-F238E27FC236}">
                <a16:creationId xmlns:a16="http://schemas.microsoft.com/office/drawing/2014/main" id="{0A97140E-8484-924D-C7BF-0382B1BCCCB9}"/>
              </a:ext>
            </a:extLst>
          </p:cNvPr>
          <p:cNvSpPr txBox="1"/>
          <p:nvPr/>
        </p:nvSpPr>
        <p:spPr>
          <a:xfrm>
            <a:off x="1485900" y="2857500"/>
            <a:ext cx="15278100" cy="6401753"/>
          </a:xfrm>
          <a:prstGeom prst="rect">
            <a:avLst/>
          </a:prstGeom>
        </p:spPr>
        <p:txBody>
          <a:bodyPr wrap="square" lIns="0" tIns="0" rIns="0" bIns="0" rtlCol="0" anchor="t">
            <a:spAutoFit/>
          </a:bodyPr>
          <a:lstStyle/>
          <a:p>
            <a:pPr algn="just" rtl="0" fontAlgn="base"/>
            <a:r>
              <a:rPr lang="en-US" sz="3200" b="0" i="0" dirty="0">
                <a:solidFill>
                  <a:srgbClr val="FFFFFF"/>
                </a:solidFill>
                <a:effectLst/>
                <a:latin typeface="Nunito" pitchFamily="2" charset="77"/>
              </a:rPr>
              <a:t>The Flexible Box Layout module introduces a one-dimensional layout system that handles space distribution and item alignment effectively. It works seamlessly for horizontal (row) or vertical (column) arrangements, making it a go-to solution for responsive designs.</a:t>
            </a:r>
            <a:endParaRPr lang="en-US" sz="3200" b="1" dirty="0">
              <a:solidFill>
                <a:srgbClr val="FFFFFF"/>
              </a:solidFill>
              <a:latin typeface="Nunito" pitchFamily="2" charset="77"/>
            </a:endParaRPr>
          </a:p>
          <a:p>
            <a:pPr algn="just" rtl="0" fontAlgn="base"/>
            <a:endParaRPr lang="en-US" sz="3200" b="0" i="0" dirty="0">
              <a:solidFill>
                <a:srgbClr val="FFFFFF"/>
              </a:solidFill>
              <a:effectLst/>
              <a:latin typeface="Nunito" pitchFamily="2" charset="77"/>
            </a:endParaRPr>
          </a:p>
          <a:p>
            <a:pPr lvl="2" fontAlgn="base">
              <a:buFont typeface="Arial" panose="020B0604020202020204" pitchFamily="34" charset="0"/>
              <a:buChar char="•"/>
            </a:pPr>
            <a:r>
              <a:rPr lang="en-US" sz="3200" b="0" i="0" dirty="0">
                <a:solidFill>
                  <a:srgbClr val="FFFFFF"/>
                </a:solidFill>
                <a:effectLst/>
                <a:latin typeface="Nunito" pitchFamily="2" charset="77"/>
              </a:rPr>
              <a:t>Flexbox eliminates the need for floats or complex positioning, enabling responsive and dynamic layouts.</a:t>
            </a:r>
          </a:p>
          <a:p>
            <a:pPr lvl="2" fontAlgn="base">
              <a:buFont typeface="Arial" panose="020B0604020202020204" pitchFamily="34" charset="0"/>
              <a:buChar char="•"/>
            </a:pPr>
            <a:endParaRPr lang="en-US" sz="3200" b="0" i="0" dirty="0">
              <a:solidFill>
                <a:srgbClr val="FFFFFF"/>
              </a:solidFill>
              <a:effectLst/>
              <a:latin typeface="Nunito" pitchFamily="2" charset="77"/>
            </a:endParaRPr>
          </a:p>
          <a:p>
            <a:pPr lvl="2" fontAlgn="base">
              <a:buFont typeface="Arial" panose="020B0604020202020204" pitchFamily="34" charset="0"/>
              <a:buChar char="•"/>
            </a:pPr>
            <a:r>
              <a:rPr lang="en-US" sz="3200" b="0" i="0" dirty="0">
                <a:solidFill>
                  <a:srgbClr val="FFFFFF"/>
                </a:solidFill>
                <a:effectLst/>
                <a:latin typeface="Nunito" pitchFamily="2" charset="77"/>
              </a:rPr>
              <a:t>It aligns items efficiently, distributing space within a container, even when their sizes are dynamic or unknown.</a:t>
            </a:r>
          </a:p>
          <a:p>
            <a:pPr lvl="2" fontAlgn="base">
              <a:buFont typeface="Arial" panose="020B0604020202020204" pitchFamily="34" charset="0"/>
              <a:buChar char="•"/>
            </a:pPr>
            <a:endParaRPr lang="en-US" sz="3200" b="0" i="0" dirty="0">
              <a:solidFill>
                <a:srgbClr val="FFFFFF"/>
              </a:solidFill>
              <a:effectLst/>
              <a:latin typeface="Nunito" pitchFamily="2" charset="77"/>
            </a:endParaRPr>
          </a:p>
          <a:p>
            <a:pPr lvl="2" fontAlgn="base">
              <a:buFont typeface="Arial" panose="020B0604020202020204" pitchFamily="34" charset="0"/>
              <a:buChar char="•"/>
            </a:pPr>
            <a:r>
              <a:rPr lang="en-US" sz="3200" b="0" i="0" dirty="0">
                <a:solidFill>
                  <a:srgbClr val="FFFFFF"/>
                </a:solidFill>
                <a:effectLst/>
                <a:latin typeface="Nunito" pitchFamily="2" charset="77"/>
              </a:rPr>
              <a:t>Flexbox is supported in all modern browsers, making it a reliable choice for creating flexible designs.</a:t>
            </a:r>
          </a:p>
        </p:txBody>
      </p:sp>
    </p:spTree>
    <p:extLst>
      <p:ext uri="{BB962C8B-B14F-4D97-AF65-F5344CB8AC3E}">
        <p14:creationId xmlns:p14="http://schemas.microsoft.com/office/powerpoint/2010/main" val="2017032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2113643" y="-2113643"/>
            <a:ext cx="10287000" cy="14514286"/>
          </a:xfrm>
          <a:custGeom>
            <a:avLst/>
            <a:gdLst/>
            <a:ahLst/>
            <a:cxnLst/>
            <a:rect l="l" t="t" r="r" b="b"/>
            <a:pathLst>
              <a:path w="10287000" h="14514286">
                <a:moveTo>
                  <a:pt x="0" y="0"/>
                </a:moveTo>
                <a:lnTo>
                  <a:pt x="10287000" y="0"/>
                </a:lnTo>
                <a:lnTo>
                  <a:pt x="10287000" y="14514286"/>
                </a:lnTo>
                <a:lnTo>
                  <a:pt x="0" y="14514286"/>
                </a:lnTo>
                <a:lnTo>
                  <a:pt x="0" y="0"/>
                </a:lnTo>
                <a:close/>
              </a:path>
            </a:pathLst>
          </a:custGeom>
          <a:blipFill>
            <a:blip r:embed="rId3"/>
            <a:stretch>
              <a:fillRect/>
            </a:stretch>
          </a:blipFill>
        </p:spPr>
      </p:sp>
      <p:sp>
        <p:nvSpPr>
          <p:cNvPr id="8" name="TextBox 8"/>
          <p:cNvSpPr txBox="1"/>
          <p:nvPr/>
        </p:nvSpPr>
        <p:spPr>
          <a:xfrm>
            <a:off x="1028700" y="1567656"/>
            <a:ext cx="13485586" cy="2051844"/>
          </a:xfrm>
          <a:prstGeom prst="rect">
            <a:avLst/>
          </a:prstGeom>
        </p:spPr>
        <p:txBody>
          <a:bodyPr wrap="square" lIns="0" tIns="0" rIns="0" bIns="0" rtlCol="0" anchor="t">
            <a:spAutoFit/>
          </a:bodyPr>
          <a:lstStyle/>
          <a:p>
            <a:pPr>
              <a:lnSpc>
                <a:spcPts val="8039"/>
              </a:lnSpc>
            </a:pPr>
            <a:r>
              <a:rPr lang="en-US" sz="7200" b="1" i="0" dirty="0">
                <a:solidFill>
                  <a:srgbClr val="FFFFFF"/>
                </a:solidFill>
                <a:effectLst/>
                <a:latin typeface="Nunito" pitchFamily="2" charset="77"/>
              </a:rPr>
              <a:t>Key Features of CSS Flexbox</a:t>
            </a:r>
          </a:p>
          <a:p>
            <a:pPr algn="l">
              <a:lnSpc>
                <a:spcPts val="8039"/>
              </a:lnSpc>
            </a:pPr>
            <a:endParaRPr lang="en-US" sz="7114" b="1" dirty="0">
              <a:solidFill>
                <a:srgbClr val="FFFFFF"/>
              </a:solidFill>
              <a:latin typeface="Glacial Indifference Bold"/>
              <a:ea typeface="Glacial Indifference Bold"/>
              <a:cs typeface="Glacial Indifference Bold"/>
              <a:sym typeface="Glacial Indifference Bold"/>
            </a:endParaRPr>
          </a:p>
        </p:txBody>
      </p:sp>
      <p:sp>
        <p:nvSpPr>
          <p:cNvPr id="9" name="TextBox 9"/>
          <p:cNvSpPr txBox="1"/>
          <p:nvPr/>
        </p:nvSpPr>
        <p:spPr>
          <a:xfrm>
            <a:off x="1028700" y="3390900"/>
            <a:ext cx="15430500" cy="3939540"/>
          </a:xfrm>
          <a:prstGeom prst="rect">
            <a:avLst/>
          </a:prstGeom>
        </p:spPr>
        <p:txBody>
          <a:bodyPr wrap="square" lIns="0" tIns="0" rIns="0" bIns="0" rtlCol="0" anchor="t">
            <a:spAutoFit/>
          </a:bodyPr>
          <a:lstStyle/>
          <a:p>
            <a:pPr algn="l" fontAlgn="base">
              <a:buFont typeface="Arial" panose="020B0604020202020204" pitchFamily="34" charset="0"/>
              <a:buChar char="•"/>
            </a:pPr>
            <a:r>
              <a:rPr lang="en-US" sz="3200" b="1" i="0" dirty="0">
                <a:solidFill>
                  <a:srgbClr val="FFFFFF"/>
                </a:solidFill>
                <a:effectLst/>
                <a:latin typeface="Nunito" pitchFamily="2" charset="77"/>
              </a:rPr>
              <a:t>Alignment: </a:t>
            </a:r>
            <a:r>
              <a:rPr lang="en-US" sz="3200" b="0" i="0" dirty="0">
                <a:solidFill>
                  <a:srgbClr val="FFFFFF"/>
                </a:solidFill>
                <a:effectLst/>
                <a:latin typeface="Nunito" pitchFamily="2" charset="77"/>
              </a:rPr>
              <a:t>Easily aligns items along the main axis (row/column) or cross-axis (perpendicular direction).</a:t>
            </a:r>
          </a:p>
          <a:p>
            <a:pPr algn="l" fontAlgn="base">
              <a:buFont typeface="Arial" panose="020B0604020202020204" pitchFamily="34" charset="0"/>
              <a:buChar char="•"/>
            </a:pPr>
            <a:endParaRPr lang="en-US" sz="3200" b="0" i="0" dirty="0">
              <a:solidFill>
                <a:srgbClr val="FFFFFF"/>
              </a:solidFill>
              <a:effectLst/>
              <a:latin typeface="Nunito" pitchFamily="2" charset="77"/>
            </a:endParaRPr>
          </a:p>
          <a:p>
            <a:pPr algn="l" fontAlgn="base">
              <a:buFont typeface="Arial" panose="020B0604020202020204" pitchFamily="34" charset="0"/>
              <a:buChar char="•"/>
            </a:pPr>
            <a:r>
              <a:rPr lang="en-US" sz="3200" b="1" i="0" dirty="0">
                <a:solidFill>
                  <a:srgbClr val="FFFFFF"/>
                </a:solidFill>
                <a:effectLst/>
                <a:latin typeface="Nunito" pitchFamily="2" charset="77"/>
              </a:rPr>
              <a:t>Space Distribution:</a:t>
            </a:r>
            <a:r>
              <a:rPr lang="en-US" sz="3200" b="0" i="0" dirty="0">
                <a:solidFill>
                  <a:srgbClr val="FFFFFF"/>
                </a:solidFill>
                <a:effectLst/>
                <a:latin typeface="Nunito" pitchFamily="2" charset="77"/>
              </a:rPr>
              <a:t> Distributes space among items or gaps dynamically within a container.</a:t>
            </a:r>
          </a:p>
          <a:p>
            <a:pPr algn="l" fontAlgn="base">
              <a:buFont typeface="Arial" panose="020B0604020202020204" pitchFamily="34" charset="0"/>
              <a:buChar char="•"/>
            </a:pPr>
            <a:endParaRPr lang="en-US" sz="3200" b="0" i="0" dirty="0">
              <a:solidFill>
                <a:srgbClr val="FFFFFF"/>
              </a:solidFill>
              <a:effectLst/>
              <a:latin typeface="Nunito" pitchFamily="2" charset="77"/>
            </a:endParaRPr>
          </a:p>
          <a:p>
            <a:pPr algn="l" fontAlgn="base">
              <a:buFont typeface="Arial" panose="020B0604020202020204" pitchFamily="34" charset="0"/>
              <a:buChar char="•"/>
            </a:pPr>
            <a:r>
              <a:rPr lang="en-US" sz="3200" b="1" i="0" dirty="0">
                <a:solidFill>
                  <a:srgbClr val="FFFFFF"/>
                </a:solidFill>
                <a:effectLst/>
                <a:latin typeface="Nunito" pitchFamily="2" charset="77"/>
              </a:rPr>
              <a:t>Responsive Design</a:t>
            </a:r>
            <a:r>
              <a:rPr lang="en-US" sz="3200" b="0" i="0" dirty="0">
                <a:solidFill>
                  <a:srgbClr val="FFFFFF"/>
                </a:solidFill>
                <a:effectLst/>
                <a:latin typeface="Nunito" pitchFamily="2" charset="77"/>
              </a:rPr>
              <a:t>: Adapts to screen sizes without extra effort, perfect for modern web layouts.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D9521-66F7-333A-1B7B-DF62708557C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A64ACB-EED4-E22B-E8BD-6262C43445A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a:extLst>
              <a:ext uri="{FF2B5EF4-FFF2-40B4-BE49-F238E27FC236}">
                <a16:creationId xmlns:a16="http://schemas.microsoft.com/office/drawing/2014/main" id="{E444AC1E-AA08-221C-63D0-973C0A0A1C5E}"/>
              </a:ext>
            </a:extLst>
          </p:cNvPr>
          <p:cNvSpPr/>
          <p:nvPr/>
        </p:nvSpPr>
        <p:spPr>
          <a:xfrm>
            <a:off x="0" y="0"/>
            <a:ext cx="18288000" cy="10287000"/>
          </a:xfrm>
          <a:custGeom>
            <a:avLst/>
            <a:gdLst/>
            <a:ahLst/>
            <a:cxnLst/>
            <a:rect l="l" t="t" r="r" b="b"/>
            <a:pathLst>
              <a:path w="9611327" h="13560956">
                <a:moveTo>
                  <a:pt x="0" y="0"/>
                </a:moveTo>
                <a:lnTo>
                  <a:pt x="9611328" y="0"/>
                </a:lnTo>
                <a:lnTo>
                  <a:pt x="9611328" y="13560956"/>
                </a:lnTo>
                <a:lnTo>
                  <a:pt x="0" y="13560956"/>
                </a:lnTo>
                <a:lnTo>
                  <a:pt x="0" y="0"/>
                </a:lnTo>
                <a:close/>
              </a:path>
            </a:pathLst>
          </a:custGeom>
          <a:blipFill>
            <a:blip r:embed="rId3"/>
            <a:stretch>
              <a:fillRect/>
            </a:stretch>
          </a:blipFill>
        </p:spPr>
      </p:sp>
      <p:sp>
        <p:nvSpPr>
          <p:cNvPr id="6" name="TextBox 6">
            <a:extLst>
              <a:ext uri="{FF2B5EF4-FFF2-40B4-BE49-F238E27FC236}">
                <a16:creationId xmlns:a16="http://schemas.microsoft.com/office/drawing/2014/main" id="{662352EE-91F3-5FAA-098A-AF800120C08F}"/>
              </a:ext>
            </a:extLst>
          </p:cNvPr>
          <p:cNvSpPr txBox="1"/>
          <p:nvPr/>
        </p:nvSpPr>
        <p:spPr>
          <a:xfrm>
            <a:off x="4651632" y="4418942"/>
            <a:ext cx="8984736" cy="1449115"/>
          </a:xfrm>
          <a:prstGeom prst="rect">
            <a:avLst/>
          </a:prstGeom>
        </p:spPr>
        <p:txBody>
          <a:bodyPr lIns="0" tIns="0" rIns="0" bIns="0" rtlCol="0" anchor="t">
            <a:spAutoFit/>
          </a:bodyPr>
          <a:lstStyle/>
          <a:p>
            <a:pPr algn="ctr">
              <a:lnSpc>
                <a:spcPts val="11307"/>
              </a:lnSpc>
            </a:pPr>
            <a:r>
              <a:rPr lang="en-US" sz="10006" b="1" dirty="0">
                <a:solidFill>
                  <a:srgbClr val="FFFFFF"/>
                </a:solidFill>
                <a:latin typeface="Glacial Indifference Bold"/>
                <a:ea typeface="Glacial Indifference Bold"/>
                <a:cs typeface="Glacial Indifference Bold"/>
                <a:sym typeface="Glacial Indifference Bold"/>
              </a:rPr>
              <a:t>CSS Flex-box</a:t>
            </a:r>
          </a:p>
        </p:txBody>
      </p:sp>
    </p:spTree>
    <p:extLst>
      <p:ext uri="{BB962C8B-B14F-4D97-AF65-F5344CB8AC3E}">
        <p14:creationId xmlns:p14="http://schemas.microsoft.com/office/powerpoint/2010/main" val="3695545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13FAD-FA38-D79B-66D6-A4D73C6BDAA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346746C-7B7D-02F5-D9CF-98503A05D2B7}"/>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a:extLst>
              <a:ext uri="{FF2B5EF4-FFF2-40B4-BE49-F238E27FC236}">
                <a16:creationId xmlns:a16="http://schemas.microsoft.com/office/drawing/2014/main" id="{001CEEC0-D78D-C82E-AA79-894BDB7CF47E}"/>
              </a:ext>
            </a:extLst>
          </p:cNvPr>
          <p:cNvSpPr/>
          <p:nvPr/>
        </p:nvSpPr>
        <p:spPr>
          <a:xfrm rot="5400000">
            <a:off x="2113643" y="-2119788"/>
            <a:ext cx="10287000" cy="14514286"/>
          </a:xfrm>
          <a:custGeom>
            <a:avLst/>
            <a:gdLst/>
            <a:ahLst/>
            <a:cxnLst/>
            <a:rect l="l" t="t" r="r" b="b"/>
            <a:pathLst>
              <a:path w="10287000" h="14514286">
                <a:moveTo>
                  <a:pt x="0" y="0"/>
                </a:moveTo>
                <a:lnTo>
                  <a:pt x="10287000" y="0"/>
                </a:lnTo>
                <a:lnTo>
                  <a:pt x="10287000" y="14514286"/>
                </a:lnTo>
                <a:lnTo>
                  <a:pt x="0" y="14514286"/>
                </a:lnTo>
                <a:lnTo>
                  <a:pt x="0" y="0"/>
                </a:lnTo>
                <a:close/>
              </a:path>
            </a:pathLst>
          </a:custGeom>
          <a:blipFill>
            <a:blip r:embed="rId3"/>
            <a:stretch>
              <a:fillRect/>
            </a:stretch>
          </a:blipFill>
        </p:spPr>
      </p:sp>
      <p:sp>
        <p:nvSpPr>
          <p:cNvPr id="8" name="TextBox 8">
            <a:extLst>
              <a:ext uri="{FF2B5EF4-FFF2-40B4-BE49-F238E27FC236}">
                <a16:creationId xmlns:a16="http://schemas.microsoft.com/office/drawing/2014/main" id="{53474BAA-1D75-575A-6B7E-193973530C63}"/>
              </a:ext>
            </a:extLst>
          </p:cNvPr>
          <p:cNvSpPr txBox="1"/>
          <p:nvPr/>
        </p:nvSpPr>
        <p:spPr>
          <a:xfrm>
            <a:off x="1028700" y="1796256"/>
            <a:ext cx="13485586" cy="1046440"/>
          </a:xfrm>
          <a:prstGeom prst="rect">
            <a:avLst/>
          </a:prstGeom>
        </p:spPr>
        <p:txBody>
          <a:bodyPr wrap="square" lIns="0" tIns="0" rIns="0" bIns="0" rtlCol="0" anchor="t">
            <a:spAutoFit/>
          </a:bodyPr>
          <a:lstStyle/>
          <a:p>
            <a:pPr>
              <a:lnSpc>
                <a:spcPts val="8039"/>
              </a:lnSpc>
            </a:pPr>
            <a:r>
              <a:rPr lang="en-US" sz="7200" b="1" i="0" dirty="0">
                <a:solidFill>
                  <a:srgbClr val="FFFFFF"/>
                </a:solidFill>
                <a:effectLst/>
                <a:latin typeface="Nunito" pitchFamily="2" charset="77"/>
              </a:rPr>
              <a:t>What is Fle</a:t>
            </a:r>
            <a:r>
              <a:rPr lang="en-US" sz="7200" b="1" dirty="0">
                <a:solidFill>
                  <a:srgbClr val="FFFFFF"/>
                </a:solidFill>
                <a:latin typeface="Nunito" pitchFamily="2" charset="77"/>
              </a:rPr>
              <a:t>x-box?</a:t>
            </a:r>
            <a:endParaRPr lang="en-US" sz="7200" b="1" i="0" dirty="0">
              <a:solidFill>
                <a:srgbClr val="FFFFFF"/>
              </a:solidFill>
              <a:effectLst/>
              <a:latin typeface="Nunito" pitchFamily="2" charset="77"/>
            </a:endParaRPr>
          </a:p>
        </p:txBody>
      </p:sp>
      <p:sp>
        <p:nvSpPr>
          <p:cNvPr id="9" name="TextBox 9">
            <a:extLst>
              <a:ext uri="{FF2B5EF4-FFF2-40B4-BE49-F238E27FC236}">
                <a16:creationId xmlns:a16="http://schemas.microsoft.com/office/drawing/2014/main" id="{12E1EE99-59EA-55F9-E022-AA37B1D3A2C5}"/>
              </a:ext>
            </a:extLst>
          </p:cNvPr>
          <p:cNvSpPr txBox="1"/>
          <p:nvPr/>
        </p:nvSpPr>
        <p:spPr>
          <a:xfrm>
            <a:off x="1028700" y="3771900"/>
            <a:ext cx="11391900" cy="2462213"/>
          </a:xfrm>
          <a:prstGeom prst="rect">
            <a:avLst/>
          </a:prstGeom>
        </p:spPr>
        <p:txBody>
          <a:bodyPr wrap="square" lIns="0" tIns="0" rIns="0" bIns="0" rtlCol="0" anchor="t">
            <a:spAutoFit/>
          </a:bodyPr>
          <a:lstStyle/>
          <a:p>
            <a:pPr fontAlgn="base"/>
            <a:r>
              <a:rPr lang="en-US" sz="3200" dirty="0">
                <a:solidFill>
                  <a:schemeClr val="bg1"/>
                </a:solidFill>
              </a:rPr>
              <a:t>The Flexible Box Layout module introduces a one-dimensional layout system that handles space distribution and item alignment effectively. It works seamlessly for horizontal (row) or vertical (column) arrangements, making it a go-to solution for responsive designs.</a:t>
            </a:r>
          </a:p>
        </p:txBody>
      </p:sp>
    </p:spTree>
    <p:extLst>
      <p:ext uri="{BB962C8B-B14F-4D97-AF65-F5344CB8AC3E}">
        <p14:creationId xmlns:p14="http://schemas.microsoft.com/office/powerpoint/2010/main" val="3483709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F31AA-727A-7CBF-D24C-A610310897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E64073A-A7AC-7978-383A-C34E2467E51E}"/>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a:extLst>
              <a:ext uri="{FF2B5EF4-FFF2-40B4-BE49-F238E27FC236}">
                <a16:creationId xmlns:a16="http://schemas.microsoft.com/office/drawing/2014/main" id="{A10B31F6-CFBF-B616-D05E-12C5E467B905}"/>
              </a:ext>
            </a:extLst>
          </p:cNvPr>
          <p:cNvSpPr/>
          <p:nvPr/>
        </p:nvSpPr>
        <p:spPr>
          <a:xfrm rot="5400000">
            <a:off x="2113643" y="-2113643"/>
            <a:ext cx="10287000" cy="14514286"/>
          </a:xfrm>
          <a:custGeom>
            <a:avLst/>
            <a:gdLst/>
            <a:ahLst/>
            <a:cxnLst/>
            <a:rect l="l" t="t" r="r" b="b"/>
            <a:pathLst>
              <a:path w="10287000" h="14514286">
                <a:moveTo>
                  <a:pt x="0" y="0"/>
                </a:moveTo>
                <a:lnTo>
                  <a:pt x="10287000" y="0"/>
                </a:lnTo>
                <a:lnTo>
                  <a:pt x="10287000" y="14514286"/>
                </a:lnTo>
                <a:lnTo>
                  <a:pt x="0" y="14514286"/>
                </a:lnTo>
                <a:lnTo>
                  <a:pt x="0" y="0"/>
                </a:lnTo>
                <a:close/>
              </a:path>
            </a:pathLst>
          </a:custGeom>
          <a:blipFill>
            <a:blip r:embed="rId3"/>
            <a:stretch>
              <a:fillRect/>
            </a:stretch>
          </a:blipFill>
        </p:spPr>
      </p:sp>
      <p:sp>
        <p:nvSpPr>
          <p:cNvPr id="8" name="TextBox 8">
            <a:extLst>
              <a:ext uri="{FF2B5EF4-FFF2-40B4-BE49-F238E27FC236}">
                <a16:creationId xmlns:a16="http://schemas.microsoft.com/office/drawing/2014/main" id="{59C701D2-144F-F8F0-3427-A60E98558165}"/>
              </a:ext>
            </a:extLst>
          </p:cNvPr>
          <p:cNvSpPr txBox="1"/>
          <p:nvPr/>
        </p:nvSpPr>
        <p:spPr>
          <a:xfrm>
            <a:off x="1028700" y="1567656"/>
            <a:ext cx="13485586" cy="2051844"/>
          </a:xfrm>
          <a:prstGeom prst="rect">
            <a:avLst/>
          </a:prstGeom>
        </p:spPr>
        <p:txBody>
          <a:bodyPr wrap="square" lIns="0" tIns="0" rIns="0" bIns="0" rtlCol="0" anchor="t">
            <a:spAutoFit/>
          </a:bodyPr>
          <a:lstStyle/>
          <a:p>
            <a:pPr>
              <a:lnSpc>
                <a:spcPts val="8039"/>
              </a:lnSpc>
            </a:pPr>
            <a:r>
              <a:rPr lang="en-US" sz="7200" b="1" i="0" dirty="0">
                <a:solidFill>
                  <a:srgbClr val="FFFFFF"/>
                </a:solidFill>
                <a:effectLst/>
                <a:latin typeface="Nunito" pitchFamily="2" charset="77"/>
              </a:rPr>
              <a:t>Key Features of CSS Flexbox</a:t>
            </a:r>
          </a:p>
          <a:p>
            <a:pPr algn="l">
              <a:lnSpc>
                <a:spcPts val="8039"/>
              </a:lnSpc>
            </a:pPr>
            <a:endParaRPr lang="en-US" sz="7114" b="1" dirty="0">
              <a:solidFill>
                <a:srgbClr val="FFFFFF"/>
              </a:solidFill>
              <a:latin typeface="Glacial Indifference Bold"/>
              <a:ea typeface="Glacial Indifference Bold"/>
              <a:cs typeface="Glacial Indifference Bold"/>
              <a:sym typeface="Glacial Indifference Bold"/>
            </a:endParaRPr>
          </a:p>
        </p:txBody>
      </p:sp>
      <p:sp>
        <p:nvSpPr>
          <p:cNvPr id="9" name="TextBox 9">
            <a:extLst>
              <a:ext uri="{FF2B5EF4-FFF2-40B4-BE49-F238E27FC236}">
                <a16:creationId xmlns:a16="http://schemas.microsoft.com/office/drawing/2014/main" id="{C088DBBA-7BE0-9F7D-44F3-CCFB9EC5377D}"/>
              </a:ext>
            </a:extLst>
          </p:cNvPr>
          <p:cNvSpPr txBox="1"/>
          <p:nvPr/>
        </p:nvSpPr>
        <p:spPr>
          <a:xfrm>
            <a:off x="1028700" y="3390900"/>
            <a:ext cx="15430500" cy="3939540"/>
          </a:xfrm>
          <a:prstGeom prst="rect">
            <a:avLst/>
          </a:prstGeom>
        </p:spPr>
        <p:txBody>
          <a:bodyPr wrap="square" lIns="0" tIns="0" rIns="0" bIns="0" rtlCol="0" anchor="t">
            <a:spAutoFit/>
          </a:bodyPr>
          <a:lstStyle/>
          <a:p>
            <a:pPr algn="l" fontAlgn="base">
              <a:buFont typeface="Arial" panose="020B0604020202020204" pitchFamily="34" charset="0"/>
              <a:buChar char="•"/>
            </a:pPr>
            <a:r>
              <a:rPr lang="en-US" sz="3200" b="1" i="0" dirty="0">
                <a:solidFill>
                  <a:srgbClr val="FFFFFF"/>
                </a:solidFill>
                <a:effectLst/>
                <a:latin typeface="Nunito" pitchFamily="2" charset="77"/>
              </a:rPr>
              <a:t>Alignment: </a:t>
            </a:r>
            <a:r>
              <a:rPr lang="en-US" sz="3200" b="0" i="0" dirty="0">
                <a:solidFill>
                  <a:srgbClr val="FFFFFF"/>
                </a:solidFill>
                <a:effectLst/>
                <a:latin typeface="Nunito" pitchFamily="2" charset="77"/>
              </a:rPr>
              <a:t>Easily aligns items along the main axis (row/column) or cross-axis (perpendicular direction).</a:t>
            </a:r>
          </a:p>
          <a:p>
            <a:pPr algn="l" fontAlgn="base">
              <a:buFont typeface="Arial" panose="020B0604020202020204" pitchFamily="34" charset="0"/>
              <a:buChar char="•"/>
            </a:pPr>
            <a:endParaRPr lang="en-US" sz="3200" b="0" i="0" dirty="0">
              <a:solidFill>
                <a:srgbClr val="FFFFFF"/>
              </a:solidFill>
              <a:effectLst/>
              <a:latin typeface="Nunito" pitchFamily="2" charset="77"/>
            </a:endParaRPr>
          </a:p>
          <a:p>
            <a:pPr algn="l" fontAlgn="base">
              <a:buFont typeface="Arial" panose="020B0604020202020204" pitchFamily="34" charset="0"/>
              <a:buChar char="•"/>
            </a:pPr>
            <a:r>
              <a:rPr lang="en-US" sz="3200" b="1" i="0" dirty="0">
                <a:solidFill>
                  <a:srgbClr val="FFFFFF"/>
                </a:solidFill>
                <a:effectLst/>
                <a:latin typeface="Nunito" pitchFamily="2" charset="77"/>
              </a:rPr>
              <a:t>Space Distribution:</a:t>
            </a:r>
            <a:r>
              <a:rPr lang="en-US" sz="3200" b="0" i="0" dirty="0">
                <a:solidFill>
                  <a:srgbClr val="FFFFFF"/>
                </a:solidFill>
                <a:effectLst/>
                <a:latin typeface="Nunito" pitchFamily="2" charset="77"/>
              </a:rPr>
              <a:t> Distributes space among items or gaps dynamically within a container.</a:t>
            </a:r>
          </a:p>
          <a:p>
            <a:pPr algn="l" fontAlgn="base">
              <a:buFont typeface="Arial" panose="020B0604020202020204" pitchFamily="34" charset="0"/>
              <a:buChar char="•"/>
            </a:pPr>
            <a:endParaRPr lang="en-US" sz="3200" b="0" i="0" dirty="0">
              <a:solidFill>
                <a:srgbClr val="FFFFFF"/>
              </a:solidFill>
              <a:effectLst/>
              <a:latin typeface="Nunito" pitchFamily="2" charset="77"/>
            </a:endParaRPr>
          </a:p>
          <a:p>
            <a:pPr algn="l" fontAlgn="base">
              <a:buFont typeface="Arial" panose="020B0604020202020204" pitchFamily="34" charset="0"/>
              <a:buChar char="•"/>
            </a:pPr>
            <a:r>
              <a:rPr lang="en-US" sz="3200" b="1" i="0" dirty="0">
                <a:solidFill>
                  <a:srgbClr val="FFFFFF"/>
                </a:solidFill>
                <a:effectLst/>
                <a:latin typeface="Nunito" pitchFamily="2" charset="77"/>
              </a:rPr>
              <a:t>Responsive Design</a:t>
            </a:r>
            <a:r>
              <a:rPr lang="en-US" sz="3200" b="0" i="0" dirty="0">
                <a:solidFill>
                  <a:srgbClr val="FFFFFF"/>
                </a:solidFill>
                <a:effectLst/>
                <a:latin typeface="Nunito" pitchFamily="2" charset="77"/>
              </a:rPr>
              <a:t>: Adapts to screen sizes without extra effort, perfect for modern web layouts.</a:t>
            </a:r>
          </a:p>
        </p:txBody>
      </p:sp>
    </p:spTree>
    <p:extLst>
      <p:ext uri="{BB962C8B-B14F-4D97-AF65-F5344CB8AC3E}">
        <p14:creationId xmlns:p14="http://schemas.microsoft.com/office/powerpoint/2010/main" val="1901470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788" y="-368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dirty="0"/>
          </a:p>
        </p:txBody>
      </p:sp>
      <p:sp>
        <p:nvSpPr>
          <p:cNvPr id="10" name="TextBox 10"/>
          <p:cNvSpPr txBox="1"/>
          <p:nvPr/>
        </p:nvSpPr>
        <p:spPr>
          <a:xfrm>
            <a:off x="10700745" y="5626949"/>
            <a:ext cx="5665568" cy="740524"/>
          </a:xfrm>
          <a:prstGeom prst="rect">
            <a:avLst/>
          </a:prstGeom>
        </p:spPr>
        <p:txBody>
          <a:bodyPr lIns="0" tIns="0" rIns="0" bIns="0" rtlCol="0" anchor="t">
            <a:spAutoFit/>
          </a:bodyPr>
          <a:lstStyle/>
          <a:p>
            <a:pPr>
              <a:lnSpc>
                <a:spcPts val="6300"/>
              </a:lnSpc>
            </a:pPr>
            <a:endParaRPr lang="en-US" sz="3500" dirty="0">
              <a:solidFill>
                <a:srgbClr val="FFFFFF"/>
              </a:solidFill>
              <a:latin typeface="HK Grotesk"/>
              <a:ea typeface="HK Grotesk"/>
              <a:cs typeface="HK Grotesk"/>
              <a:sym typeface="HK Grotesk"/>
            </a:endParaRPr>
          </a:p>
        </p:txBody>
      </p:sp>
      <p:sp>
        <p:nvSpPr>
          <p:cNvPr id="14" name="Freeform 3">
            <a:extLst>
              <a:ext uri="{FF2B5EF4-FFF2-40B4-BE49-F238E27FC236}">
                <a16:creationId xmlns:a16="http://schemas.microsoft.com/office/drawing/2014/main" id="{AC1C6EB5-514D-C8BC-1F35-3A1DADDAA2BA}"/>
              </a:ext>
            </a:extLst>
          </p:cNvPr>
          <p:cNvSpPr/>
          <p:nvPr/>
        </p:nvSpPr>
        <p:spPr>
          <a:xfrm>
            <a:off x="0" y="0"/>
            <a:ext cx="18271211" cy="10312810"/>
          </a:xfrm>
          <a:custGeom>
            <a:avLst/>
            <a:gdLst/>
            <a:ahLst/>
            <a:cxnLst/>
            <a:rect l="l" t="t" r="r" b="b"/>
            <a:pathLst>
              <a:path w="9611327" h="13560956">
                <a:moveTo>
                  <a:pt x="0" y="0"/>
                </a:moveTo>
                <a:lnTo>
                  <a:pt x="9611328" y="0"/>
                </a:lnTo>
                <a:lnTo>
                  <a:pt x="9611328" y="13560956"/>
                </a:lnTo>
                <a:lnTo>
                  <a:pt x="0" y="13560956"/>
                </a:lnTo>
                <a:lnTo>
                  <a:pt x="0" y="0"/>
                </a:lnTo>
                <a:close/>
              </a:path>
            </a:pathLst>
          </a:custGeom>
          <a:blipFill>
            <a:blip r:embed="rId3"/>
            <a:stretch>
              <a:fillRect/>
            </a:stretch>
          </a:blipFill>
        </p:spPr>
      </p:sp>
      <p:sp>
        <p:nvSpPr>
          <p:cNvPr id="13" name="TextBox 12">
            <a:extLst>
              <a:ext uri="{FF2B5EF4-FFF2-40B4-BE49-F238E27FC236}">
                <a16:creationId xmlns:a16="http://schemas.microsoft.com/office/drawing/2014/main" id="{2AA76351-9A22-33B6-D26F-330F6930912E}"/>
              </a:ext>
            </a:extLst>
          </p:cNvPr>
          <p:cNvSpPr txBox="1"/>
          <p:nvPr/>
        </p:nvSpPr>
        <p:spPr>
          <a:xfrm>
            <a:off x="304800" y="3305096"/>
            <a:ext cx="9144000" cy="6124754"/>
          </a:xfrm>
          <a:prstGeom prst="rect">
            <a:avLst/>
          </a:prstGeom>
          <a:noFill/>
        </p:spPr>
        <p:txBody>
          <a:bodyPr wrap="square">
            <a:spAutoFit/>
          </a:bodyPr>
          <a:lstStyle/>
          <a:p>
            <a:pPr>
              <a:buNone/>
            </a:pPr>
            <a:r>
              <a:rPr lang="en-US" sz="2800" b="0" dirty="0">
                <a:solidFill>
                  <a:srgbClr val="D4D4D4"/>
                </a:solidFill>
                <a:effectLst/>
                <a:latin typeface="Consolas" panose="020B0609020204030204" pitchFamily="49" charset="0"/>
              </a:rPr>
              <a:t>    </a:t>
            </a:r>
            <a:r>
              <a:rPr lang="en-US" sz="2800" b="0" dirty="0">
                <a:solidFill>
                  <a:srgbClr val="D7BA7D"/>
                </a:solidFill>
                <a:effectLst/>
                <a:latin typeface="Consolas" panose="020B0609020204030204" pitchFamily="49" charset="0"/>
              </a:rPr>
              <a:t>.flex-container</a:t>
            </a:r>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pPr>
              <a:buNone/>
            </a:pPr>
            <a:r>
              <a:rPr lang="en-US" sz="2800" b="0" dirty="0">
                <a:solidFill>
                  <a:srgbClr val="D4D4D4"/>
                </a:solidFill>
                <a:effectLst/>
                <a:latin typeface="Consolas" panose="020B0609020204030204" pitchFamily="49" charset="0"/>
              </a:rPr>
              <a:t>        </a:t>
            </a:r>
            <a:r>
              <a:rPr lang="en-US" sz="2800" b="0" dirty="0">
                <a:solidFill>
                  <a:srgbClr val="9CDCFE"/>
                </a:solidFill>
                <a:effectLst/>
                <a:latin typeface="Consolas" panose="020B0609020204030204" pitchFamily="49" charset="0"/>
              </a:rPr>
              <a:t>display</a:t>
            </a:r>
            <a:r>
              <a:rPr lang="en-US" sz="2800" b="0" dirty="0">
                <a:solidFill>
                  <a:srgbClr val="D4D4D4"/>
                </a:solidFill>
                <a:effectLst/>
                <a:latin typeface="Consolas" panose="020B0609020204030204" pitchFamily="49" charset="0"/>
              </a:rPr>
              <a:t>: </a:t>
            </a:r>
            <a:r>
              <a:rPr lang="en-US" sz="2800" b="0" dirty="0">
                <a:solidFill>
                  <a:srgbClr val="CE9178"/>
                </a:solidFill>
                <a:effectLst/>
                <a:latin typeface="Consolas" panose="020B0609020204030204" pitchFamily="49" charset="0"/>
              </a:rPr>
              <a:t>flex</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pPr>
              <a:buNone/>
            </a:pPr>
            <a:r>
              <a:rPr lang="en-US" sz="2800" b="0" dirty="0">
                <a:solidFill>
                  <a:srgbClr val="D4D4D4"/>
                </a:solidFill>
                <a:effectLst/>
                <a:latin typeface="Consolas" panose="020B0609020204030204" pitchFamily="49" charset="0"/>
              </a:rPr>
              <a:t>        </a:t>
            </a:r>
            <a:r>
              <a:rPr lang="en-US" sz="2800" b="0" dirty="0">
                <a:solidFill>
                  <a:srgbClr val="9CDCFE"/>
                </a:solidFill>
                <a:effectLst/>
                <a:latin typeface="Consolas" panose="020B0609020204030204" pitchFamily="49" charset="0"/>
              </a:rPr>
              <a:t>background-color</a:t>
            </a:r>
            <a:r>
              <a:rPr lang="en-US" sz="2800" b="0" dirty="0">
                <a:solidFill>
                  <a:srgbClr val="D4D4D4"/>
                </a:solidFill>
                <a:effectLst/>
                <a:latin typeface="Consolas" panose="020B0609020204030204" pitchFamily="49" charset="0"/>
              </a:rPr>
              <a:t>: </a:t>
            </a:r>
            <a:r>
              <a:rPr lang="en-US" sz="2800" b="0" dirty="0">
                <a:solidFill>
                  <a:srgbClr val="CE9178"/>
                </a:solidFill>
                <a:effectLst/>
                <a:latin typeface="Consolas" panose="020B0609020204030204" pitchFamily="49" charset="0"/>
              </a:rPr>
              <a:t>#f2f2f2</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pPr>
              <a:buNone/>
            </a:pPr>
            <a:r>
              <a:rPr lang="en-US" sz="2800" b="0" dirty="0">
                <a:solidFill>
                  <a:srgbClr val="D4D4D4"/>
                </a:solidFill>
                <a:effectLst/>
                <a:latin typeface="Consolas" panose="020B0609020204030204" pitchFamily="49" charset="0"/>
              </a:rPr>
              <a:t>        </a:t>
            </a:r>
            <a:r>
              <a:rPr lang="en-US" sz="2800" b="0" dirty="0">
                <a:solidFill>
                  <a:srgbClr val="9CDCFE"/>
                </a:solidFill>
                <a:effectLst/>
                <a:latin typeface="Consolas" panose="020B0609020204030204" pitchFamily="49" charset="0"/>
              </a:rPr>
              <a:t>padding</a:t>
            </a:r>
            <a:r>
              <a:rPr lang="en-US" sz="2800" b="0" dirty="0">
                <a:solidFill>
                  <a:srgbClr val="D4D4D4"/>
                </a:solidFill>
                <a:effectLst/>
                <a:latin typeface="Consolas" panose="020B0609020204030204" pitchFamily="49" charset="0"/>
              </a:rPr>
              <a:t>: </a:t>
            </a:r>
            <a:r>
              <a:rPr lang="en-US" sz="2800" b="0" dirty="0">
                <a:solidFill>
                  <a:srgbClr val="B5CEA8"/>
                </a:solidFill>
                <a:effectLst/>
                <a:latin typeface="Consolas" panose="020B0609020204030204" pitchFamily="49" charset="0"/>
              </a:rPr>
              <a:t>10px</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pPr>
              <a:buNone/>
            </a:pPr>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pPr>
              <a:buNone/>
            </a:pPr>
            <a:br>
              <a:rPr lang="en-US" sz="2800" b="0" dirty="0">
                <a:solidFill>
                  <a:srgbClr val="CCCCCC"/>
                </a:solidFill>
                <a:effectLst/>
                <a:latin typeface="Consolas" panose="020B0609020204030204" pitchFamily="49" charset="0"/>
              </a:rPr>
            </a:br>
            <a:r>
              <a:rPr lang="en-US" sz="2800" b="0" dirty="0">
                <a:solidFill>
                  <a:srgbClr val="D4D4D4"/>
                </a:solidFill>
                <a:effectLst/>
                <a:latin typeface="Consolas" panose="020B0609020204030204" pitchFamily="49" charset="0"/>
              </a:rPr>
              <a:t>    </a:t>
            </a:r>
            <a:r>
              <a:rPr lang="en-US" sz="2800" b="0" dirty="0">
                <a:solidFill>
                  <a:srgbClr val="D7BA7D"/>
                </a:solidFill>
                <a:effectLst/>
                <a:latin typeface="Consolas" panose="020B0609020204030204" pitchFamily="49" charset="0"/>
              </a:rPr>
              <a:t>.flex-item</a:t>
            </a:r>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pPr>
              <a:buNone/>
            </a:pPr>
            <a:r>
              <a:rPr lang="en-US" sz="2800" b="0" dirty="0">
                <a:solidFill>
                  <a:srgbClr val="D4D4D4"/>
                </a:solidFill>
                <a:effectLst/>
                <a:latin typeface="Consolas" panose="020B0609020204030204" pitchFamily="49" charset="0"/>
              </a:rPr>
              <a:t>        </a:t>
            </a:r>
            <a:r>
              <a:rPr lang="en-US" sz="2800" b="0" dirty="0">
                <a:solidFill>
                  <a:srgbClr val="9CDCFE"/>
                </a:solidFill>
                <a:effectLst/>
                <a:latin typeface="Consolas" panose="020B0609020204030204" pitchFamily="49" charset="0"/>
              </a:rPr>
              <a:t>background-color</a:t>
            </a:r>
            <a:r>
              <a:rPr lang="en-US" sz="2800" b="0" dirty="0">
                <a:solidFill>
                  <a:srgbClr val="D4D4D4"/>
                </a:solidFill>
                <a:effectLst/>
                <a:latin typeface="Consolas" panose="020B0609020204030204" pitchFamily="49" charset="0"/>
              </a:rPr>
              <a:t>: </a:t>
            </a:r>
            <a:r>
              <a:rPr lang="en-US" sz="2800" b="0" dirty="0">
                <a:solidFill>
                  <a:srgbClr val="CE9178"/>
                </a:solidFill>
                <a:effectLst/>
                <a:latin typeface="Consolas" panose="020B0609020204030204" pitchFamily="49" charset="0"/>
              </a:rPr>
              <a:t>#4CAF50</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pPr>
              <a:buNone/>
            </a:pPr>
            <a:r>
              <a:rPr lang="en-US" sz="2800" b="0" dirty="0">
                <a:solidFill>
                  <a:srgbClr val="D4D4D4"/>
                </a:solidFill>
                <a:effectLst/>
                <a:latin typeface="Consolas" panose="020B0609020204030204" pitchFamily="49" charset="0"/>
              </a:rPr>
              <a:t>        </a:t>
            </a:r>
            <a:r>
              <a:rPr lang="en-US" sz="2800" b="0" dirty="0">
                <a:solidFill>
                  <a:srgbClr val="9CDCFE"/>
                </a:solidFill>
                <a:effectLst/>
                <a:latin typeface="Consolas" panose="020B0609020204030204" pitchFamily="49" charset="0"/>
              </a:rPr>
              <a:t>color</a:t>
            </a:r>
            <a:r>
              <a:rPr lang="en-US" sz="2800" b="0" dirty="0">
                <a:solidFill>
                  <a:srgbClr val="D4D4D4"/>
                </a:solidFill>
                <a:effectLst/>
                <a:latin typeface="Consolas" panose="020B0609020204030204" pitchFamily="49" charset="0"/>
              </a:rPr>
              <a:t>: </a:t>
            </a:r>
            <a:r>
              <a:rPr lang="en-US" sz="2800" b="0" dirty="0">
                <a:solidFill>
                  <a:srgbClr val="CE9178"/>
                </a:solidFill>
                <a:effectLst/>
                <a:latin typeface="Consolas" panose="020B0609020204030204" pitchFamily="49" charset="0"/>
              </a:rPr>
              <a:t>white</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pPr>
              <a:buNone/>
            </a:pPr>
            <a:r>
              <a:rPr lang="en-US" sz="2800" b="0" dirty="0">
                <a:solidFill>
                  <a:srgbClr val="D4D4D4"/>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margin</a:t>
            </a:r>
            <a:r>
              <a:rPr lang="en-US" sz="2800" b="0" dirty="0">
                <a:solidFill>
                  <a:srgbClr val="D4D4D4"/>
                </a:solidFill>
                <a:effectLst/>
                <a:latin typeface="Consolas" panose="020B0609020204030204" pitchFamily="49" charset="0"/>
              </a:rPr>
              <a:t>: </a:t>
            </a:r>
            <a:r>
              <a:rPr lang="en-US" sz="2800" b="0" dirty="0">
                <a:solidFill>
                  <a:srgbClr val="B5CEA8"/>
                </a:solidFill>
                <a:effectLst/>
                <a:latin typeface="Consolas" panose="020B0609020204030204" pitchFamily="49" charset="0"/>
              </a:rPr>
              <a:t>5px</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pPr>
              <a:buNone/>
            </a:pPr>
            <a:r>
              <a:rPr lang="en-US" sz="2800" b="0" dirty="0">
                <a:solidFill>
                  <a:srgbClr val="D4D4D4"/>
                </a:solidFill>
                <a:effectLst/>
                <a:latin typeface="Consolas" panose="020B0609020204030204" pitchFamily="49" charset="0"/>
              </a:rPr>
              <a:t>        </a:t>
            </a:r>
            <a:r>
              <a:rPr lang="en-US" sz="2800" b="0" dirty="0">
                <a:solidFill>
                  <a:srgbClr val="9CDCFE"/>
                </a:solidFill>
                <a:effectLst/>
                <a:latin typeface="Consolas" panose="020B0609020204030204" pitchFamily="49" charset="0"/>
              </a:rPr>
              <a:t>padding</a:t>
            </a:r>
            <a:r>
              <a:rPr lang="en-US" sz="2800" b="0" dirty="0">
                <a:solidFill>
                  <a:srgbClr val="D4D4D4"/>
                </a:solidFill>
                <a:effectLst/>
                <a:latin typeface="Consolas" panose="020B0609020204030204" pitchFamily="49" charset="0"/>
              </a:rPr>
              <a:t>: </a:t>
            </a:r>
            <a:r>
              <a:rPr lang="en-US" sz="2800" b="0" dirty="0">
                <a:solidFill>
                  <a:srgbClr val="B5CEA8"/>
                </a:solidFill>
                <a:effectLst/>
                <a:latin typeface="Consolas" panose="020B0609020204030204" pitchFamily="49" charset="0"/>
              </a:rPr>
              <a:t>20px</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pPr>
              <a:buNone/>
            </a:pPr>
            <a:r>
              <a:rPr lang="en-US" sz="2800" b="0" dirty="0">
                <a:solidFill>
                  <a:srgbClr val="D4D4D4"/>
                </a:solidFill>
                <a:effectLst/>
                <a:latin typeface="Consolas" panose="020B0609020204030204" pitchFamily="49" charset="0"/>
              </a:rPr>
              <a:t>        </a:t>
            </a:r>
            <a:r>
              <a:rPr lang="en-US" sz="2800" b="0" dirty="0">
                <a:solidFill>
                  <a:srgbClr val="9CDCFE"/>
                </a:solidFill>
                <a:effectLst/>
                <a:latin typeface="Consolas" panose="020B0609020204030204" pitchFamily="49" charset="0"/>
              </a:rPr>
              <a:t>text-align</a:t>
            </a:r>
            <a:r>
              <a:rPr lang="en-US" sz="2800" b="0" dirty="0">
                <a:solidFill>
                  <a:srgbClr val="D4D4D4"/>
                </a:solidFill>
                <a:effectLst/>
                <a:latin typeface="Consolas" panose="020B0609020204030204" pitchFamily="49" charset="0"/>
              </a:rPr>
              <a:t>: </a:t>
            </a:r>
            <a:r>
              <a:rPr lang="en-US" sz="2800" b="0" dirty="0">
                <a:solidFill>
                  <a:srgbClr val="CE9178"/>
                </a:solidFill>
                <a:effectLst/>
                <a:latin typeface="Consolas" panose="020B0609020204030204" pitchFamily="49" charset="0"/>
              </a:rPr>
              <a:t>center</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pPr>
              <a:buNone/>
            </a:pPr>
            <a:r>
              <a:rPr lang="en-US" sz="2800" b="0" dirty="0">
                <a:solidFill>
                  <a:srgbClr val="D4D4D4"/>
                </a:solidFill>
                <a:effectLst/>
                <a:latin typeface="Consolas" panose="020B0609020204030204" pitchFamily="49" charset="0"/>
              </a:rPr>
              <a:t>        </a:t>
            </a:r>
            <a:r>
              <a:rPr lang="en-US" sz="2800" b="0" dirty="0">
                <a:solidFill>
                  <a:srgbClr val="9CDCFE"/>
                </a:solidFill>
                <a:effectLst/>
                <a:latin typeface="Consolas" panose="020B0609020204030204" pitchFamily="49" charset="0"/>
              </a:rPr>
              <a:t>flex</a:t>
            </a:r>
            <a:r>
              <a:rPr lang="en-US" sz="2800" b="0" dirty="0">
                <a:solidFill>
                  <a:srgbClr val="D4D4D4"/>
                </a:solidFill>
                <a:effectLst/>
                <a:latin typeface="Consolas" panose="020B0609020204030204" pitchFamily="49" charset="0"/>
              </a:rPr>
              <a:t>: </a:t>
            </a:r>
            <a:r>
              <a:rPr lang="en-US" sz="2800" b="0" dirty="0">
                <a:solidFill>
                  <a:srgbClr val="B5CEA8"/>
                </a:solidFill>
                <a:effectLst/>
                <a:latin typeface="Consolas" panose="020B0609020204030204" pitchFamily="49" charset="0"/>
              </a:rPr>
              <a:t>1</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p:txBody>
      </p:sp>
      <p:sp>
        <p:nvSpPr>
          <p:cNvPr id="15" name="TextBox 14">
            <a:extLst>
              <a:ext uri="{FF2B5EF4-FFF2-40B4-BE49-F238E27FC236}">
                <a16:creationId xmlns:a16="http://schemas.microsoft.com/office/drawing/2014/main" id="{A90A127B-F0A6-74EC-6AFD-4A0C040E791F}"/>
              </a:ext>
            </a:extLst>
          </p:cNvPr>
          <p:cNvSpPr txBox="1"/>
          <p:nvPr/>
        </p:nvSpPr>
        <p:spPr>
          <a:xfrm>
            <a:off x="914400" y="1174360"/>
            <a:ext cx="9220200" cy="2062103"/>
          </a:xfrm>
          <a:prstGeom prst="rect">
            <a:avLst/>
          </a:prstGeom>
          <a:noFill/>
        </p:spPr>
        <p:txBody>
          <a:bodyPr wrap="square" rtlCol="0">
            <a:spAutoFit/>
          </a:bodyPr>
          <a:lstStyle/>
          <a:p>
            <a:pPr fontAlgn="base"/>
            <a:r>
              <a:rPr lang="en-US" sz="3200" b="1" dirty="0">
                <a:solidFill>
                  <a:schemeClr val="bg1"/>
                </a:solidFill>
              </a:rPr>
              <a:t>In this Example,</a:t>
            </a:r>
            <a:endParaRPr lang="en-US" sz="3200" dirty="0">
              <a:solidFill>
                <a:schemeClr val="bg1"/>
              </a:solidFill>
            </a:endParaRPr>
          </a:p>
          <a:p>
            <a:pPr fontAlgn="base"/>
            <a:r>
              <a:rPr lang="en-US" sz="3200" dirty="0">
                <a:solidFill>
                  <a:schemeClr val="bg1"/>
                </a:solidFill>
              </a:rPr>
              <a:t>The </a:t>
            </a:r>
            <a:r>
              <a:rPr lang="en-US" sz="3200" b="1" dirty="0">
                <a:solidFill>
                  <a:schemeClr val="bg1"/>
                </a:solidFill>
              </a:rPr>
              <a:t>.flex-container</a:t>
            </a:r>
            <a:r>
              <a:rPr lang="en-US" sz="3200" dirty="0">
                <a:solidFill>
                  <a:schemeClr val="bg1"/>
                </a:solidFill>
              </a:rPr>
              <a:t> class applies display: flex;, designating the div as a flex container.</a:t>
            </a:r>
          </a:p>
          <a:p>
            <a:endParaRPr lang="en-US" sz="3200" dirty="0">
              <a:solidFill>
                <a:schemeClr val="bg1"/>
              </a:solidFill>
            </a:endParaRPr>
          </a:p>
        </p:txBody>
      </p:sp>
      <p:pic>
        <p:nvPicPr>
          <p:cNvPr id="17" name="Picture 16">
            <a:extLst>
              <a:ext uri="{FF2B5EF4-FFF2-40B4-BE49-F238E27FC236}">
                <a16:creationId xmlns:a16="http://schemas.microsoft.com/office/drawing/2014/main" id="{CD6FCCEB-2FE1-08C9-3E1E-7820C4059236}"/>
              </a:ext>
            </a:extLst>
          </p:cNvPr>
          <p:cNvPicPr>
            <a:picLocks noChangeAspect="1"/>
          </p:cNvPicPr>
          <p:nvPr/>
        </p:nvPicPr>
        <p:blipFill>
          <a:blip r:embed="rId4"/>
          <a:stretch>
            <a:fillRect/>
          </a:stretch>
        </p:blipFill>
        <p:spPr>
          <a:xfrm>
            <a:off x="8382000" y="3640697"/>
            <a:ext cx="9334727" cy="397250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68485-403E-9470-E0E7-FEA6BA9756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755E41A-92A9-E3E6-8E4A-55F10613B3AA}"/>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a:extLst>
              <a:ext uri="{FF2B5EF4-FFF2-40B4-BE49-F238E27FC236}">
                <a16:creationId xmlns:a16="http://schemas.microsoft.com/office/drawing/2014/main" id="{8A0061B2-B27E-510F-F3A6-7110B292AED3}"/>
              </a:ext>
            </a:extLst>
          </p:cNvPr>
          <p:cNvSpPr/>
          <p:nvPr/>
        </p:nvSpPr>
        <p:spPr>
          <a:xfrm rot="5400000">
            <a:off x="2113643" y="-2113643"/>
            <a:ext cx="10287000" cy="14514286"/>
          </a:xfrm>
          <a:custGeom>
            <a:avLst/>
            <a:gdLst/>
            <a:ahLst/>
            <a:cxnLst/>
            <a:rect l="l" t="t" r="r" b="b"/>
            <a:pathLst>
              <a:path w="10287000" h="14514286">
                <a:moveTo>
                  <a:pt x="0" y="0"/>
                </a:moveTo>
                <a:lnTo>
                  <a:pt x="10287000" y="0"/>
                </a:lnTo>
                <a:lnTo>
                  <a:pt x="10287000" y="14514286"/>
                </a:lnTo>
                <a:lnTo>
                  <a:pt x="0" y="14514286"/>
                </a:lnTo>
                <a:lnTo>
                  <a:pt x="0" y="0"/>
                </a:lnTo>
                <a:close/>
              </a:path>
            </a:pathLst>
          </a:custGeom>
          <a:blipFill>
            <a:blip r:embed="rId3"/>
            <a:stretch>
              <a:fillRect/>
            </a:stretch>
          </a:blipFill>
        </p:spPr>
      </p:sp>
      <p:sp>
        <p:nvSpPr>
          <p:cNvPr id="15" name="TextBox 14">
            <a:extLst>
              <a:ext uri="{FF2B5EF4-FFF2-40B4-BE49-F238E27FC236}">
                <a16:creationId xmlns:a16="http://schemas.microsoft.com/office/drawing/2014/main" id="{99E3E39B-F90E-51BD-6AC5-FF6837CF918D}"/>
              </a:ext>
            </a:extLst>
          </p:cNvPr>
          <p:cNvSpPr txBox="1"/>
          <p:nvPr/>
        </p:nvSpPr>
        <p:spPr>
          <a:xfrm>
            <a:off x="914400" y="800100"/>
            <a:ext cx="9220200" cy="3046988"/>
          </a:xfrm>
          <a:prstGeom prst="rect">
            <a:avLst/>
          </a:prstGeom>
          <a:noFill/>
        </p:spPr>
        <p:txBody>
          <a:bodyPr wrap="square" rtlCol="0">
            <a:spAutoFit/>
          </a:bodyPr>
          <a:lstStyle/>
          <a:p>
            <a:pPr fontAlgn="base"/>
            <a:r>
              <a:rPr lang="en-US" sz="3200" b="1" dirty="0">
                <a:solidFill>
                  <a:schemeClr val="bg1"/>
                </a:solidFill>
              </a:rPr>
              <a:t>Flexbox Components</a:t>
            </a:r>
          </a:p>
          <a:p>
            <a:pPr fontAlgn="base"/>
            <a:endParaRPr lang="en-US" sz="3200" b="1" dirty="0">
              <a:solidFill>
                <a:schemeClr val="bg1"/>
              </a:solidFill>
            </a:endParaRPr>
          </a:p>
          <a:p>
            <a:pPr fontAlgn="base"/>
            <a:r>
              <a:rPr lang="en-US" sz="3200" b="1" dirty="0">
                <a:solidFill>
                  <a:schemeClr val="bg1"/>
                </a:solidFill>
              </a:rPr>
              <a:t>Flex Container: </a:t>
            </a:r>
            <a:r>
              <a:rPr lang="en-US" sz="3200" dirty="0">
                <a:solidFill>
                  <a:schemeClr val="bg1"/>
                </a:solidFill>
              </a:rPr>
              <a:t>The parent div containing various divisions.</a:t>
            </a:r>
          </a:p>
          <a:p>
            <a:pPr fontAlgn="base"/>
            <a:endParaRPr lang="en-US" sz="3200" dirty="0">
              <a:solidFill>
                <a:schemeClr val="bg1"/>
              </a:solidFill>
            </a:endParaRPr>
          </a:p>
          <a:p>
            <a:pPr fontAlgn="base"/>
            <a:r>
              <a:rPr lang="en-US" sz="3200" b="1" dirty="0">
                <a:solidFill>
                  <a:schemeClr val="bg1"/>
                </a:solidFill>
              </a:rPr>
              <a:t>Flex Items:</a:t>
            </a:r>
            <a:r>
              <a:rPr lang="en-US" sz="3200" dirty="0">
                <a:solidFill>
                  <a:schemeClr val="bg1"/>
                </a:solidFill>
              </a:rPr>
              <a:t> The items inside the container div.</a:t>
            </a:r>
          </a:p>
        </p:txBody>
      </p:sp>
      <p:pic>
        <p:nvPicPr>
          <p:cNvPr id="4" name="Picture 3">
            <a:extLst>
              <a:ext uri="{FF2B5EF4-FFF2-40B4-BE49-F238E27FC236}">
                <a16:creationId xmlns:a16="http://schemas.microsoft.com/office/drawing/2014/main" id="{03E6F403-F1EB-4965-DF66-48DE93D5FEDA}"/>
              </a:ext>
            </a:extLst>
          </p:cNvPr>
          <p:cNvPicPr>
            <a:picLocks noChangeAspect="1"/>
          </p:cNvPicPr>
          <p:nvPr/>
        </p:nvPicPr>
        <p:blipFill>
          <a:blip r:embed="rId4"/>
          <a:stretch>
            <a:fillRect/>
          </a:stretch>
        </p:blipFill>
        <p:spPr>
          <a:xfrm>
            <a:off x="4419600" y="4322084"/>
            <a:ext cx="11430000" cy="5220544"/>
          </a:xfrm>
          <a:prstGeom prst="rect">
            <a:avLst/>
          </a:prstGeom>
        </p:spPr>
      </p:pic>
    </p:spTree>
    <p:extLst>
      <p:ext uri="{BB962C8B-B14F-4D97-AF65-F5344CB8AC3E}">
        <p14:creationId xmlns:p14="http://schemas.microsoft.com/office/powerpoint/2010/main" val="85646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67AF6-981A-A2B2-7BDE-A212FEFB228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594C36F-C8A4-09FE-3108-5C01C78DEC12}"/>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a:extLst>
              <a:ext uri="{FF2B5EF4-FFF2-40B4-BE49-F238E27FC236}">
                <a16:creationId xmlns:a16="http://schemas.microsoft.com/office/drawing/2014/main" id="{553FE40C-2D4C-4BA8-6F9C-C9B80D92905E}"/>
              </a:ext>
            </a:extLst>
          </p:cNvPr>
          <p:cNvSpPr/>
          <p:nvPr/>
        </p:nvSpPr>
        <p:spPr>
          <a:xfrm rot="5400000">
            <a:off x="2113643" y="-2113643"/>
            <a:ext cx="10287000" cy="14514286"/>
          </a:xfrm>
          <a:custGeom>
            <a:avLst/>
            <a:gdLst/>
            <a:ahLst/>
            <a:cxnLst/>
            <a:rect l="l" t="t" r="r" b="b"/>
            <a:pathLst>
              <a:path w="10287000" h="14514286">
                <a:moveTo>
                  <a:pt x="0" y="0"/>
                </a:moveTo>
                <a:lnTo>
                  <a:pt x="10287000" y="0"/>
                </a:lnTo>
                <a:lnTo>
                  <a:pt x="10287000" y="14514286"/>
                </a:lnTo>
                <a:lnTo>
                  <a:pt x="0" y="14514286"/>
                </a:lnTo>
                <a:lnTo>
                  <a:pt x="0" y="0"/>
                </a:lnTo>
                <a:close/>
              </a:path>
            </a:pathLst>
          </a:custGeom>
          <a:blipFill>
            <a:blip r:embed="rId3"/>
            <a:stretch>
              <a:fillRect/>
            </a:stretch>
          </a:blipFill>
        </p:spPr>
      </p:sp>
      <p:sp>
        <p:nvSpPr>
          <p:cNvPr id="15" name="TextBox 14">
            <a:extLst>
              <a:ext uri="{FF2B5EF4-FFF2-40B4-BE49-F238E27FC236}">
                <a16:creationId xmlns:a16="http://schemas.microsoft.com/office/drawing/2014/main" id="{95A67514-3F21-B0F6-9643-10161D473265}"/>
              </a:ext>
            </a:extLst>
          </p:cNvPr>
          <p:cNvSpPr txBox="1"/>
          <p:nvPr/>
        </p:nvSpPr>
        <p:spPr>
          <a:xfrm>
            <a:off x="914400" y="800100"/>
            <a:ext cx="9220200" cy="3046988"/>
          </a:xfrm>
          <a:prstGeom prst="rect">
            <a:avLst/>
          </a:prstGeom>
          <a:noFill/>
        </p:spPr>
        <p:txBody>
          <a:bodyPr wrap="square" rtlCol="0">
            <a:spAutoFit/>
          </a:bodyPr>
          <a:lstStyle/>
          <a:p>
            <a:pPr fontAlgn="base"/>
            <a:r>
              <a:rPr lang="en-US" sz="3200" b="1" dirty="0">
                <a:solidFill>
                  <a:schemeClr val="bg1"/>
                </a:solidFill>
              </a:rPr>
              <a:t>Flexbox Axes</a:t>
            </a:r>
          </a:p>
          <a:p>
            <a:pPr fontAlgn="base"/>
            <a:r>
              <a:rPr lang="en-US" sz="3200" dirty="0">
                <a:solidFill>
                  <a:schemeClr val="bg1"/>
                </a:solidFill>
              </a:rPr>
              <a:t>Flexbox operates on two axes:</a:t>
            </a:r>
          </a:p>
          <a:p>
            <a:pPr fontAlgn="base"/>
            <a:r>
              <a:rPr lang="en-US" sz="3200" b="1" dirty="0">
                <a:highlight>
                  <a:srgbClr val="FFFF00"/>
                </a:highlight>
              </a:rPr>
              <a:t>Main Axis: </a:t>
            </a:r>
            <a:r>
              <a:rPr lang="en-US" sz="3200" dirty="0">
                <a:highlight>
                  <a:srgbClr val="FFFF00"/>
                </a:highlight>
              </a:rPr>
              <a:t>Runs from left to right by default.</a:t>
            </a:r>
          </a:p>
          <a:p>
            <a:pPr fontAlgn="base"/>
            <a:endParaRPr lang="en-US" sz="3200" dirty="0">
              <a:solidFill>
                <a:schemeClr val="bg1"/>
              </a:solidFill>
            </a:endParaRPr>
          </a:p>
          <a:p>
            <a:pPr fontAlgn="base"/>
            <a:r>
              <a:rPr lang="en-US" sz="3200" b="1" dirty="0">
                <a:solidFill>
                  <a:schemeClr val="bg1"/>
                </a:solidFill>
              </a:rPr>
              <a:t>Cross Axis: </a:t>
            </a:r>
            <a:r>
              <a:rPr lang="en-US" sz="3200" dirty="0">
                <a:solidFill>
                  <a:schemeClr val="bg1"/>
                </a:solidFill>
              </a:rPr>
              <a:t>Perpendicular to the main axis, runs from top to bottom.</a:t>
            </a:r>
          </a:p>
        </p:txBody>
      </p:sp>
      <p:pic>
        <p:nvPicPr>
          <p:cNvPr id="6" name="Picture 5">
            <a:extLst>
              <a:ext uri="{FF2B5EF4-FFF2-40B4-BE49-F238E27FC236}">
                <a16:creationId xmlns:a16="http://schemas.microsoft.com/office/drawing/2014/main" id="{8AB373CC-8DFE-193D-18C6-3CA7A73106D8}"/>
              </a:ext>
            </a:extLst>
          </p:cNvPr>
          <p:cNvPicPr>
            <a:picLocks noChangeAspect="1"/>
          </p:cNvPicPr>
          <p:nvPr/>
        </p:nvPicPr>
        <p:blipFill>
          <a:blip r:embed="rId4"/>
          <a:stretch>
            <a:fillRect/>
          </a:stretch>
        </p:blipFill>
        <p:spPr>
          <a:xfrm>
            <a:off x="4191000" y="4152666"/>
            <a:ext cx="11562558" cy="5334234"/>
          </a:xfrm>
          <a:prstGeom prst="rect">
            <a:avLst/>
          </a:prstGeom>
        </p:spPr>
      </p:pic>
      <p:pic>
        <p:nvPicPr>
          <p:cNvPr id="7" name="Picture 6">
            <a:extLst>
              <a:ext uri="{FF2B5EF4-FFF2-40B4-BE49-F238E27FC236}">
                <a16:creationId xmlns:a16="http://schemas.microsoft.com/office/drawing/2014/main" id="{3080B4E5-B5AD-F968-2BE1-9852B39E352C}"/>
              </a:ext>
            </a:extLst>
          </p:cNvPr>
          <p:cNvPicPr>
            <a:picLocks noChangeAspect="1"/>
          </p:cNvPicPr>
          <p:nvPr/>
        </p:nvPicPr>
        <p:blipFill>
          <a:blip r:embed="rId5"/>
          <a:stretch>
            <a:fillRect/>
          </a:stretch>
        </p:blipFill>
        <p:spPr>
          <a:xfrm>
            <a:off x="18734017" y="3997873"/>
            <a:ext cx="11126385" cy="5643819"/>
          </a:xfrm>
          <a:prstGeom prst="rect">
            <a:avLst/>
          </a:prstGeom>
        </p:spPr>
      </p:pic>
    </p:spTree>
    <p:extLst>
      <p:ext uri="{BB962C8B-B14F-4D97-AF65-F5344CB8AC3E}">
        <p14:creationId xmlns:p14="http://schemas.microsoft.com/office/powerpoint/2010/main" val="16285034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50146-6D74-118E-C5E0-94D94A037B1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8F03212-7D38-DF0F-6768-EAFF849B74F9}"/>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a:extLst>
              <a:ext uri="{FF2B5EF4-FFF2-40B4-BE49-F238E27FC236}">
                <a16:creationId xmlns:a16="http://schemas.microsoft.com/office/drawing/2014/main" id="{8946912A-4101-820F-B2C8-FB5B7D618A88}"/>
              </a:ext>
            </a:extLst>
          </p:cNvPr>
          <p:cNvSpPr/>
          <p:nvPr/>
        </p:nvSpPr>
        <p:spPr>
          <a:xfrm rot="5400000">
            <a:off x="2113643" y="-2113643"/>
            <a:ext cx="10287000" cy="14514286"/>
          </a:xfrm>
          <a:custGeom>
            <a:avLst/>
            <a:gdLst/>
            <a:ahLst/>
            <a:cxnLst/>
            <a:rect l="l" t="t" r="r" b="b"/>
            <a:pathLst>
              <a:path w="10287000" h="14514286">
                <a:moveTo>
                  <a:pt x="0" y="0"/>
                </a:moveTo>
                <a:lnTo>
                  <a:pt x="10287000" y="0"/>
                </a:lnTo>
                <a:lnTo>
                  <a:pt x="10287000" y="14514286"/>
                </a:lnTo>
                <a:lnTo>
                  <a:pt x="0" y="14514286"/>
                </a:lnTo>
                <a:lnTo>
                  <a:pt x="0" y="0"/>
                </a:lnTo>
                <a:close/>
              </a:path>
            </a:pathLst>
          </a:custGeom>
          <a:blipFill>
            <a:blip r:embed="rId3"/>
            <a:stretch>
              <a:fillRect/>
            </a:stretch>
          </a:blipFill>
        </p:spPr>
      </p:sp>
      <p:sp>
        <p:nvSpPr>
          <p:cNvPr id="15" name="TextBox 14">
            <a:extLst>
              <a:ext uri="{FF2B5EF4-FFF2-40B4-BE49-F238E27FC236}">
                <a16:creationId xmlns:a16="http://schemas.microsoft.com/office/drawing/2014/main" id="{C0454698-2F94-536A-5B18-BF5E431BE8C3}"/>
              </a:ext>
            </a:extLst>
          </p:cNvPr>
          <p:cNvSpPr txBox="1"/>
          <p:nvPr/>
        </p:nvSpPr>
        <p:spPr>
          <a:xfrm>
            <a:off x="914400" y="800100"/>
            <a:ext cx="9220200" cy="3046988"/>
          </a:xfrm>
          <a:prstGeom prst="rect">
            <a:avLst/>
          </a:prstGeom>
          <a:noFill/>
        </p:spPr>
        <p:txBody>
          <a:bodyPr wrap="square" rtlCol="0">
            <a:spAutoFit/>
          </a:bodyPr>
          <a:lstStyle/>
          <a:p>
            <a:pPr fontAlgn="base"/>
            <a:r>
              <a:rPr lang="en-US" sz="3200" b="1" dirty="0">
                <a:solidFill>
                  <a:schemeClr val="bg1"/>
                </a:solidFill>
              </a:rPr>
              <a:t>Flexbox Axes</a:t>
            </a:r>
          </a:p>
          <a:p>
            <a:pPr fontAlgn="base"/>
            <a:r>
              <a:rPr lang="en-US" sz="3200" dirty="0">
                <a:solidFill>
                  <a:schemeClr val="bg1"/>
                </a:solidFill>
              </a:rPr>
              <a:t>Flexbox operates on two axes:</a:t>
            </a:r>
          </a:p>
          <a:p>
            <a:pPr fontAlgn="base"/>
            <a:r>
              <a:rPr lang="en-US" sz="3200" b="1" dirty="0">
                <a:solidFill>
                  <a:schemeClr val="bg1"/>
                </a:solidFill>
              </a:rPr>
              <a:t>Main Axis: </a:t>
            </a:r>
            <a:r>
              <a:rPr lang="en-US" sz="3200" dirty="0">
                <a:solidFill>
                  <a:schemeClr val="bg1"/>
                </a:solidFill>
              </a:rPr>
              <a:t>Runs from left to right by default.</a:t>
            </a:r>
          </a:p>
          <a:p>
            <a:pPr fontAlgn="base"/>
            <a:endParaRPr lang="en-US" sz="3200" dirty="0">
              <a:solidFill>
                <a:schemeClr val="bg1"/>
              </a:solidFill>
            </a:endParaRPr>
          </a:p>
          <a:p>
            <a:pPr fontAlgn="base"/>
            <a:r>
              <a:rPr lang="en-US" sz="3200" b="1" dirty="0">
                <a:highlight>
                  <a:srgbClr val="FFFF00"/>
                </a:highlight>
              </a:rPr>
              <a:t>Cross Axis: </a:t>
            </a:r>
            <a:r>
              <a:rPr lang="en-US" sz="3200" dirty="0">
                <a:highlight>
                  <a:srgbClr val="FFFF00"/>
                </a:highlight>
              </a:rPr>
              <a:t>Perpendicular to the main axis, runs from top to bottom.</a:t>
            </a:r>
          </a:p>
        </p:txBody>
      </p:sp>
      <p:pic>
        <p:nvPicPr>
          <p:cNvPr id="6" name="Picture 5">
            <a:extLst>
              <a:ext uri="{FF2B5EF4-FFF2-40B4-BE49-F238E27FC236}">
                <a16:creationId xmlns:a16="http://schemas.microsoft.com/office/drawing/2014/main" id="{558B830C-2A3D-48E4-948B-4ED34F170BB4}"/>
              </a:ext>
            </a:extLst>
          </p:cNvPr>
          <p:cNvPicPr>
            <a:picLocks noChangeAspect="1"/>
          </p:cNvPicPr>
          <p:nvPr/>
        </p:nvPicPr>
        <p:blipFill>
          <a:blip r:embed="rId4"/>
          <a:stretch>
            <a:fillRect/>
          </a:stretch>
        </p:blipFill>
        <p:spPr>
          <a:xfrm>
            <a:off x="-12039600" y="4152666"/>
            <a:ext cx="11562558" cy="5334234"/>
          </a:xfrm>
          <a:prstGeom prst="rect">
            <a:avLst/>
          </a:prstGeom>
        </p:spPr>
      </p:pic>
      <p:pic>
        <p:nvPicPr>
          <p:cNvPr id="5" name="Picture 4">
            <a:extLst>
              <a:ext uri="{FF2B5EF4-FFF2-40B4-BE49-F238E27FC236}">
                <a16:creationId xmlns:a16="http://schemas.microsoft.com/office/drawing/2014/main" id="{34801414-BCC7-7B65-5A5C-9188D64BE637}"/>
              </a:ext>
            </a:extLst>
          </p:cNvPr>
          <p:cNvPicPr>
            <a:picLocks noChangeAspect="1"/>
          </p:cNvPicPr>
          <p:nvPr/>
        </p:nvPicPr>
        <p:blipFill>
          <a:blip r:embed="rId5"/>
          <a:stretch>
            <a:fillRect/>
          </a:stretch>
        </p:blipFill>
        <p:spPr>
          <a:xfrm>
            <a:off x="4571407" y="3997873"/>
            <a:ext cx="11126385" cy="5643819"/>
          </a:xfrm>
          <a:prstGeom prst="rect">
            <a:avLst/>
          </a:prstGeom>
        </p:spPr>
      </p:pic>
    </p:spTree>
    <p:extLst>
      <p:ext uri="{BB962C8B-B14F-4D97-AF65-F5344CB8AC3E}">
        <p14:creationId xmlns:p14="http://schemas.microsoft.com/office/powerpoint/2010/main" val="32703985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a:off x="4338336" y="-3273956"/>
            <a:ext cx="9611327" cy="13560956"/>
          </a:xfrm>
          <a:custGeom>
            <a:avLst/>
            <a:gdLst/>
            <a:ahLst/>
            <a:cxnLst/>
            <a:rect l="l" t="t" r="r" b="b"/>
            <a:pathLst>
              <a:path w="9611327" h="13560956">
                <a:moveTo>
                  <a:pt x="0" y="0"/>
                </a:moveTo>
                <a:lnTo>
                  <a:pt x="9611328" y="0"/>
                </a:lnTo>
                <a:lnTo>
                  <a:pt x="9611328" y="13560956"/>
                </a:lnTo>
                <a:lnTo>
                  <a:pt x="0" y="13560956"/>
                </a:lnTo>
                <a:lnTo>
                  <a:pt x="0" y="0"/>
                </a:lnTo>
                <a:close/>
              </a:path>
            </a:pathLst>
          </a:custGeom>
          <a:blipFill>
            <a:blip r:embed="rId3"/>
            <a:stretch>
              <a:fillRect/>
            </a:stretch>
          </a:blipFill>
        </p:spPr>
      </p:sp>
      <p:sp>
        <p:nvSpPr>
          <p:cNvPr id="4" name="TextBox 4"/>
          <p:cNvSpPr txBox="1"/>
          <p:nvPr/>
        </p:nvSpPr>
        <p:spPr>
          <a:xfrm>
            <a:off x="5243404" y="5626628"/>
            <a:ext cx="7801192" cy="555249"/>
          </a:xfrm>
          <a:prstGeom prst="rect">
            <a:avLst/>
          </a:prstGeom>
        </p:spPr>
        <p:txBody>
          <a:bodyPr lIns="0" tIns="0" rIns="0" bIns="0" rtlCol="0" anchor="t">
            <a:spAutoFit/>
          </a:bodyPr>
          <a:lstStyle/>
          <a:p>
            <a:pPr algn="ctr">
              <a:lnSpc>
                <a:spcPts val="4570"/>
              </a:lnSpc>
            </a:pPr>
            <a:r>
              <a:rPr lang="en-US" sz="3264">
                <a:solidFill>
                  <a:srgbClr val="FFFFFF"/>
                </a:solidFill>
                <a:latin typeface="HK Grotesk"/>
                <a:ea typeface="HK Grotesk"/>
                <a:cs typeface="HK Grotesk"/>
                <a:sym typeface="HK Grotesk"/>
              </a:rPr>
              <a:t>FOR YOUR ATTENTION</a:t>
            </a:r>
          </a:p>
        </p:txBody>
      </p:sp>
      <p:sp>
        <p:nvSpPr>
          <p:cNvPr id="5" name="TextBox 5"/>
          <p:cNvSpPr txBox="1"/>
          <p:nvPr/>
        </p:nvSpPr>
        <p:spPr>
          <a:xfrm>
            <a:off x="6716061" y="962025"/>
            <a:ext cx="4855878" cy="523875"/>
          </a:xfrm>
          <a:prstGeom prst="rect">
            <a:avLst/>
          </a:prstGeom>
        </p:spPr>
        <p:txBody>
          <a:bodyPr lIns="0" tIns="0" rIns="0" bIns="0" rtlCol="0" anchor="t">
            <a:spAutoFit/>
          </a:bodyPr>
          <a:lstStyle/>
          <a:p>
            <a:pPr algn="ctr">
              <a:lnSpc>
                <a:spcPts val="4200"/>
              </a:lnSpc>
            </a:pPr>
            <a:r>
              <a:rPr lang="en-US" sz="3000" i="1">
                <a:solidFill>
                  <a:srgbClr val="FFFFFF"/>
                </a:solidFill>
                <a:latin typeface="HK Grotesk Italics"/>
                <a:ea typeface="HK Grotesk Italics"/>
                <a:cs typeface="HK Grotesk Italics"/>
                <a:sym typeface="HK Grotesk Italics"/>
              </a:rPr>
              <a:t>Arowwai Industries</a:t>
            </a:r>
          </a:p>
        </p:txBody>
      </p:sp>
      <p:sp>
        <p:nvSpPr>
          <p:cNvPr id="6" name="TextBox 6"/>
          <p:cNvSpPr txBox="1"/>
          <p:nvPr/>
        </p:nvSpPr>
        <p:spPr>
          <a:xfrm>
            <a:off x="6716061" y="8734425"/>
            <a:ext cx="4855878" cy="523875"/>
          </a:xfrm>
          <a:prstGeom prst="rect">
            <a:avLst/>
          </a:prstGeom>
        </p:spPr>
        <p:txBody>
          <a:bodyPr lIns="0" tIns="0" rIns="0" bIns="0" rtlCol="0" anchor="t">
            <a:spAutoFit/>
          </a:bodyPr>
          <a:lstStyle/>
          <a:p>
            <a:pPr algn="ctr">
              <a:lnSpc>
                <a:spcPts val="4200"/>
              </a:lnSpc>
            </a:pPr>
            <a:r>
              <a:rPr lang="en-US" sz="3000" i="1">
                <a:solidFill>
                  <a:srgbClr val="FFFFFF"/>
                </a:solidFill>
                <a:latin typeface="HK Grotesk Italics"/>
                <a:ea typeface="HK Grotesk Italics"/>
                <a:cs typeface="HK Grotesk Italics"/>
                <a:sym typeface="HK Grotesk Italics"/>
              </a:rPr>
              <a:t>www.reallygreatsite.com</a:t>
            </a:r>
          </a:p>
        </p:txBody>
      </p:sp>
      <p:sp>
        <p:nvSpPr>
          <p:cNvPr id="7" name="TextBox 7"/>
          <p:cNvSpPr txBox="1"/>
          <p:nvPr/>
        </p:nvSpPr>
        <p:spPr>
          <a:xfrm>
            <a:off x="4651632" y="4171798"/>
            <a:ext cx="8984736" cy="1451033"/>
          </a:xfrm>
          <a:prstGeom prst="rect">
            <a:avLst/>
          </a:prstGeom>
        </p:spPr>
        <p:txBody>
          <a:bodyPr lIns="0" tIns="0" rIns="0" bIns="0" rtlCol="0" anchor="t">
            <a:spAutoFit/>
          </a:bodyPr>
          <a:lstStyle/>
          <a:p>
            <a:pPr algn="ctr">
              <a:lnSpc>
                <a:spcPts val="11307"/>
              </a:lnSpc>
            </a:pPr>
            <a:r>
              <a:rPr lang="en-US" sz="10006" b="1">
                <a:solidFill>
                  <a:srgbClr val="FFFFFF"/>
                </a:solidFill>
                <a:latin typeface="Glacial Indifference Bold"/>
                <a:ea typeface="Glacial Indifference Bold"/>
                <a:cs typeface="Glacial Indifference Bold"/>
                <a:sym typeface="Glacial Indifferenc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398</TotalTime>
  <Words>1363</Words>
  <Application>Microsoft Office PowerPoint</Application>
  <PresentationFormat>Custom</PresentationFormat>
  <Paragraphs>174</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Glacial Indifference Bold</vt:lpstr>
      <vt:lpstr>HK Grotesk Italics</vt:lpstr>
      <vt:lpstr>Nunito</vt:lpstr>
      <vt:lpstr>HK Grotesk</vt:lpstr>
      <vt:lpstr>Menlo</vt:lpstr>
      <vt:lpstr>Arial</vt:lpstr>
      <vt:lpstr>Consolas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Green Modern Artificial Intelligence Presentation</dc:title>
  <cp:lastModifiedBy>diongie fundador</cp:lastModifiedBy>
  <cp:revision>5</cp:revision>
  <dcterms:created xsi:type="dcterms:W3CDTF">2006-08-16T00:00:00Z</dcterms:created>
  <dcterms:modified xsi:type="dcterms:W3CDTF">2025-09-23T08:56:09Z</dcterms:modified>
  <dc:identifier>DAGzfwDWirI</dc:identifier>
</cp:coreProperties>
</file>